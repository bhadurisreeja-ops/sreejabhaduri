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odec Pro Ultra-Bold" charset="1" panose="00000700000000000000"/>
      <p:regular r:id="rId19"/>
    </p:embeddedFont>
    <p:embeddedFont>
      <p:font typeface="Codec Pro" charset="1" panose="00000500000000000000"/>
      <p:regular r:id="rId20"/>
    </p:embeddedFont>
    <p:embeddedFont>
      <p:font typeface="Codec Pro Bold" charset="1" panose="00000600000000000000"/>
      <p:regular r:id="rId21"/>
    </p:embeddedFont>
    <p:embeddedFont>
      <p:font typeface="TT Ramillas" charset="1" panose="020E0000080000020004"/>
      <p:regular r:id="rId22"/>
    </p:embeddedFont>
    <p:embeddedFont>
      <p:font typeface="Canva Sans" charset="1" panose="020B0503030501040103"/>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2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8518" r="0" b="-68518"/>
            </a:stretch>
          </a:blipFill>
        </p:spPr>
      </p:sp>
      <p:sp>
        <p:nvSpPr>
          <p:cNvPr name="TextBox 3" id="3"/>
          <p:cNvSpPr txBox="true"/>
          <p:nvPr/>
        </p:nvSpPr>
        <p:spPr>
          <a:xfrm rot="0">
            <a:off x="1293893" y="3669209"/>
            <a:ext cx="15655405" cy="1917478"/>
          </a:xfrm>
          <a:prstGeom prst="rect">
            <a:avLst/>
          </a:prstGeom>
        </p:spPr>
        <p:txBody>
          <a:bodyPr anchor="t" rtlCol="false" tIns="0" lIns="0" bIns="0" rIns="0">
            <a:spAutoFit/>
          </a:bodyPr>
          <a:lstStyle/>
          <a:p>
            <a:pPr algn="ctr">
              <a:lnSpc>
                <a:spcPts val="14363"/>
              </a:lnSpc>
              <a:spcBef>
                <a:spcPct val="0"/>
              </a:spcBef>
            </a:pPr>
            <a:r>
              <a:rPr lang="en-US" b="true" sz="10259" spc="-512">
                <a:solidFill>
                  <a:srgbClr val="FFFFFF"/>
                </a:solidFill>
                <a:latin typeface="Codec Pro Ultra-Bold"/>
                <a:ea typeface="Codec Pro Ultra-Bold"/>
                <a:cs typeface="Codec Pro Ultra-Bold"/>
                <a:sym typeface="Codec Pro Ultra-Bold"/>
              </a:rPr>
              <a:t>Tourism Resource Mapping </a:t>
            </a:r>
          </a:p>
        </p:txBody>
      </p:sp>
      <p:grpSp>
        <p:nvGrpSpPr>
          <p:cNvPr name="Group 4" id="4"/>
          <p:cNvGrpSpPr/>
          <p:nvPr/>
        </p:nvGrpSpPr>
        <p:grpSpPr>
          <a:xfrm rot="0">
            <a:off x="16627035" y="8514560"/>
            <a:ext cx="632265" cy="63226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FF00"/>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93893" y="793432"/>
            <a:ext cx="3380502" cy="394335"/>
          </a:xfrm>
          <a:prstGeom prst="rect">
            <a:avLst/>
          </a:prstGeom>
        </p:spPr>
        <p:txBody>
          <a:bodyPr anchor="t" rtlCol="false" tIns="0" lIns="0" bIns="0" rIns="0">
            <a:spAutoFit/>
          </a:bodyPr>
          <a:lstStyle/>
          <a:p>
            <a:pPr algn="l">
              <a:lnSpc>
                <a:spcPts val="2939"/>
              </a:lnSpc>
            </a:pPr>
            <a:r>
              <a:rPr lang="en-US" sz="2099" b="true">
                <a:solidFill>
                  <a:srgbClr val="2C7FA9"/>
                </a:solidFill>
                <a:latin typeface="Codec Pro Ultra-Bold"/>
                <a:ea typeface="Codec Pro Ultra-Bold"/>
                <a:cs typeface="Codec Pro Ultra-Bold"/>
                <a:sym typeface="Codec Pro Ultra-Bold"/>
              </a:rPr>
              <a:t>THYNK UNLIMITED</a:t>
            </a:r>
          </a:p>
        </p:txBody>
      </p:sp>
      <p:sp>
        <p:nvSpPr>
          <p:cNvPr name="TextBox 8" id="8"/>
          <p:cNvSpPr txBox="true"/>
          <p:nvPr/>
        </p:nvSpPr>
        <p:spPr>
          <a:xfrm rot="0">
            <a:off x="8496029" y="8863899"/>
            <a:ext cx="1274721" cy="470601"/>
          </a:xfrm>
          <a:prstGeom prst="rect">
            <a:avLst/>
          </a:prstGeom>
        </p:spPr>
        <p:txBody>
          <a:bodyPr anchor="t" rtlCol="false" tIns="0" lIns="0" bIns="0" rIns="0">
            <a:spAutoFit/>
          </a:bodyPr>
          <a:lstStyle/>
          <a:p>
            <a:pPr algn="ctr">
              <a:lnSpc>
                <a:spcPts val="3461"/>
              </a:lnSpc>
            </a:pPr>
            <a:r>
              <a:rPr lang="en-US" sz="2472" b="true">
                <a:solidFill>
                  <a:srgbClr val="FFFFFF"/>
                </a:solidFill>
                <a:latin typeface="Codec Pro Ultra-Bold"/>
                <a:ea typeface="Codec Pro Ultra-Bold"/>
                <a:cs typeface="Codec Pro Ultra-Bold"/>
                <a:sym typeface="Codec Pro Ultra-Bold"/>
              </a:rPr>
              <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9645" y="2520315"/>
            <a:ext cx="5549110" cy="6230276"/>
            <a:chOff x="0" y="0"/>
            <a:chExt cx="859702" cy="965233"/>
          </a:xfrm>
        </p:grpSpPr>
        <p:sp>
          <p:nvSpPr>
            <p:cNvPr name="Freeform 3" id="3"/>
            <p:cNvSpPr/>
            <p:nvPr/>
          </p:nvSpPr>
          <p:spPr>
            <a:xfrm flipH="false" flipV="false" rot="0">
              <a:off x="0" y="0"/>
              <a:ext cx="859702" cy="965233"/>
            </a:xfrm>
            <a:custGeom>
              <a:avLst/>
              <a:gdLst/>
              <a:ahLst/>
              <a:cxnLst/>
              <a:rect r="r" b="b" t="t" l="l"/>
              <a:pathLst>
                <a:path h="965233" w="859702">
                  <a:moveTo>
                    <a:pt x="40460" y="0"/>
                  </a:moveTo>
                  <a:lnTo>
                    <a:pt x="819243" y="0"/>
                  </a:lnTo>
                  <a:cubicBezTo>
                    <a:pt x="829973" y="0"/>
                    <a:pt x="840264" y="4263"/>
                    <a:pt x="847852" y="11850"/>
                  </a:cubicBezTo>
                  <a:cubicBezTo>
                    <a:pt x="855440" y="19438"/>
                    <a:pt x="859702" y="29729"/>
                    <a:pt x="859702" y="40460"/>
                  </a:cubicBezTo>
                  <a:lnTo>
                    <a:pt x="859702" y="924773"/>
                  </a:lnTo>
                  <a:cubicBezTo>
                    <a:pt x="859702" y="947118"/>
                    <a:pt x="841588" y="965233"/>
                    <a:pt x="819243" y="965233"/>
                  </a:cubicBezTo>
                  <a:lnTo>
                    <a:pt x="40460" y="965233"/>
                  </a:lnTo>
                  <a:cubicBezTo>
                    <a:pt x="18114" y="965233"/>
                    <a:pt x="0" y="947118"/>
                    <a:pt x="0" y="924773"/>
                  </a:cubicBezTo>
                  <a:lnTo>
                    <a:pt x="0" y="40460"/>
                  </a:lnTo>
                  <a:cubicBezTo>
                    <a:pt x="0" y="18114"/>
                    <a:pt x="18114" y="0"/>
                    <a:pt x="40460" y="0"/>
                  </a:cubicBezTo>
                  <a:close/>
                </a:path>
              </a:pathLst>
            </a:custGeom>
            <a:blipFill>
              <a:blip r:embed="rId2"/>
              <a:stretch>
                <a:fillRect l="-34259" t="0" r="-34259" b="0"/>
              </a:stretch>
            </a:blipFill>
          </p:spPr>
        </p:sp>
      </p:grpSp>
      <p:grpSp>
        <p:nvGrpSpPr>
          <p:cNvPr name="Group 4" id="4"/>
          <p:cNvGrpSpPr/>
          <p:nvPr/>
        </p:nvGrpSpPr>
        <p:grpSpPr>
          <a:xfrm rot="0">
            <a:off x="-155830" y="0"/>
            <a:ext cx="7857505" cy="10815782"/>
            <a:chOff x="0" y="0"/>
            <a:chExt cx="1217333" cy="1675648"/>
          </a:xfrm>
        </p:grpSpPr>
        <p:sp>
          <p:nvSpPr>
            <p:cNvPr name="Freeform 5" id="5"/>
            <p:cNvSpPr/>
            <p:nvPr/>
          </p:nvSpPr>
          <p:spPr>
            <a:xfrm flipH="false" flipV="false" rot="0">
              <a:off x="0" y="0"/>
              <a:ext cx="1217333" cy="1675648"/>
            </a:xfrm>
            <a:custGeom>
              <a:avLst/>
              <a:gdLst/>
              <a:ahLst/>
              <a:cxnLst/>
              <a:rect r="r" b="b" t="t" l="l"/>
              <a:pathLst>
                <a:path h="1675648" w="1217333">
                  <a:moveTo>
                    <a:pt x="28573" y="0"/>
                  </a:moveTo>
                  <a:lnTo>
                    <a:pt x="1188760" y="0"/>
                  </a:lnTo>
                  <a:cubicBezTo>
                    <a:pt x="1204541" y="0"/>
                    <a:pt x="1217333" y="12793"/>
                    <a:pt x="1217333" y="28573"/>
                  </a:cubicBezTo>
                  <a:lnTo>
                    <a:pt x="1217333" y="1647074"/>
                  </a:lnTo>
                  <a:cubicBezTo>
                    <a:pt x="1217333" y="1662855"/>
                    <a:pt x="1204541" y="1675648"/>
                    <a:pt x="1188760" y="1675648"/>
                  </a:cubicBezTo>
                  <a:lnTo>
                    <a:pt x="28573" y="1675648"/>
                  </a:lnTo>
                  <a:cubicBezTo>
                    <a:pt x="12793" y="1675648"/>
                    <a:pt x="0" y="1662855"/>
                    <a:pt x="0" y="1647074"/>
                  </a:cubicBezTo>
                  <a:lnTo>
                    <a:pt x="0" y="28573"/>
                  </a:lnTo>
                  <a:cubicBezTo>
                    <a:pt x="0" y="12793"/>
                    <a:pt x="12793" y="0"/>
                    <a:pt x="28573" y="0"/>
                  </a:cubicBezTo>
                  <a:close/>
                </a:path>
              </a:pathLst>
            </a:custGeom>
            <a:blipFill>
              <a:blip r:embed="rId3"/>
              <a:stretch>
                <a:fillRect l="-5059" t="0" r="-5059" b="0"/>
              </a:stretch>
            </a:blipFill>
          </p:spPr>
        </p:sp>
      </p:grpSp>
      <p:sp>
        <p:nvSpPr>
          <p:cNvPr name="TextBox 6" id="6"/>
          <p:cNvSpPr txBox="true"/>
          <p:nvPr/>
        </p:nvSpPr>
        <p:spPr>
          <a:xfrm rot="0">
            <a:off x="9144000" y="807270"/>
            <a:ext cx="1662550" cy="42859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Codec Pro"/>
                <a:ea typeface="Codec Pro"/>
                <a:cs typeface="Codec Pro"/>
                <a:sym typeface="Codec Pro"/>
              </a:rPr>
              <a:t>Home</a:t>
            </a:r>
          </a:p>
        </p:txBody>
      </p:sp>
      <p:sp>
        <p:nvSpPr>
          <p:cNvPr name="TextBox 7" id="7"/>
          <p:cNvSpPr txBox="true"/>
          <p:nvPr/>
        </p:nvSpPr>
        <p:spPr>
          <a:xfrm rot="0">
            <a:off x="11408122" y="809483"/>
            <a:ext cx="1907082" cy="42859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Codec Pro Ultra-Bold"/>
                <a:ea typeface="Codec Pro Ultra-Bold"/>
                <a:cs typeface="Codec Pro Ultra-Bold"/>
                <a:sym typeface="Codec Pro Ultra-Bold"/>
              </a:rPr>
              <a:t>About</a:t>
            </a:r>
          </a:p>
        </p:txBody>
      </p:sp>
      <p:sp>
        <p:nvSpPr>
          <p:cNvPr name="TextBox 8" id="8"/>
          <p:cNvSpPr txBox="true"/>
          <p:nvPr/>
        </p:nvSpPr>
        <p:spPr>
          <a:xfrm rot="0">
            <a:off x="13726729" y="785304"/>
            <a:ext cx="1916881" cy="42859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Codec Pro"/>
                <a:ea typeface="Codec Pro"/>
                <a:cs typeface="Codec Pro"/>
                <a:sym typeface="Codec Pro"/>
              </a:rPr>
              <a:t>Content</a:t>
            </a:r>
          </a:p>
        </p:txBody>
      </p:sp>
      <p:sp>
        <p:nvSpPr>
          <p:cNvPr name="TextBox 9" id="9"/>
          <p:cNvSpPr txBox="true"/>
          <p:nvPr/>
        </p:nvSpPr>
        <p:spPr>
          <a:xfrm rot="0">
            <a:off x="15034325" y="807270"/>
            <a:ext cx="2224975" cy="42859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Codec Pro"/>
                <a:ea typeface="Codec Pro"/>
                <a:cs typeface="Codec Pro"/>
                <a:sym typeface="Codec Pro"/>
              </a:rPr>
              <a:t>Others</a:t>
            </a:r>
          </a:p>
        </p:txBody>
      </p:sp>
      <p:sp>
        <p:nvSpPr>
          <p:cNvPr name="TextBox 10" id="10"/>
          <p:cNvSpPr txBox="true"/>
          <p:nvPr/>
        </p:nvSpPr>
        <p:spPr>
          <a:xfrm rot="0">
            <a:off x="8758473" y="3542811"/>
            <a:ext cx="8500827" cy="4109085"/>
          </a:xfrm>
          <a:prstGeom prst="rect">
            <a:avLst/>
          </a:prstGeom>
        </p:spPr>
        <p:txBody>
          <a:bodyPr anchor="t" rtlCol="false" tIns="0" lIns="0" bIns="0" rIns="0">
            <a:spAutoFit/>
          </a:bodyPr>
          <a:lstStyle/>
          <a:p>
            <a:pPr algn="just">
              <a:lnSpc>
                <a:spcPts val="2940"/>
              </a:lnSpc>
            </a:pPr>
            <a:r>
              <a:rPr lang="en-US" sz="2100" b="true">
                <a:solidFill>
                  <a:srgbClr val="000000"/>
                </a:solidFill>
                <a:latin typeface="Codec Pro Bold"/>
                <a:ea typeface="Codec Pro Bold"/>
                <a:cs typeface="Codec Pro Bold"/>
                <a:sym typeface="Codec Pro Bold"/>
              </a:rPr>
              <a:t>Thiruvananthapuram, located at the southern tip of Kerala (8.5241° N, 76.9366° E), features diverse geographical elements including coastal beaches, hilly terrains, and river networks. The district is rich in tourist resources such as cultural and religious sites, wildlife sanctuaries, and hill stations. </a:t>
            </a:r>
          </a:p>
          <a:p>
            <a:pPr algn="just">
              <a:lnSpc>
                <a:spcPts val="2940"/>
              </a:lnSpc>
            </a:pPr>
          </a:p>
          <a:p>
            <a:pPr algn="just">
              <a:lnSpc>
                <a:spcPts val="2940"/>
              </a:lnSpc>
              <a:spcBef>
                <a:spcPct val="0"/>
              </a:spcBef>
            </a:pPr>
            <a:r>
              <a:rPr lang="en-US" b="true" sz="2100">
                <a:solidFill>
                  <a:srgbClr val="000000"/>
                </a:solidFill>
                <a:latin typeface="Codec Pro Bold"/>
                <a:ea typeface="Codec Pro Bold"/>
                <a:cs typeface="Codec Pro Bold"/>
                <a:sym typeface="Codec Pro Bold"/>
              </a:rPr>
              <a:t>Key factors supporting tourism include well-developed road and rail networks, proximity to the international airport, and availability of hotels and restaurants near major attractions, making it an important hub for both domestic and international visitors.”</a:t>
            </a:r>
          </a:p>
        </p:txBody>
      </p:sp>
      <p:sp>
        <p:nvSpPr>
          <p:cNvPr name="TextBox 11" id="11"/>
          <p:cNvSpPr txBox="true"/>
          <p:nvPr/>
        </p:nvSpPr>
        <p:spPr>
          <a:xfrm rot="0">
            <a:off x="8655455" y="1132317"/>
            <a:ext cx="9148050" cy="1387998"/>
          </a:xfrm>
          <a:prstGeom prst="rect">
            <a:avLst/>
          </a:prstGeom>
        </p:spPr>
        <p:txBody>
          <a:bodyPr anchor="t" rtlCol="false" tIns="0" lIns="0" bIns="0" rIns="0">
            <a:spAutoFit/>
          </a:bodyPr>
          <a:lstStyle/>
          <a:p>
            <a:pPr algn="l">
              <a:lnSpc>
                <a:spcPts val="10391"/>
              </a:lnSpc>
              <a:spcBef>
                <a:spcPct val="0"/>
              </a:spcBef>
            </a:pPr>
            <a:r>
              <a:rPr lang="en-US" b="true" sz="7422" spc="-371">
                <a:solidFill>
                  <a:srgbClr val="000000"/>
                </a:solidFill>
                <a:latin typeface="Codec Pro Ultra-Bold"/>
                <a:ea typeface="Codec Pro Ultra-Bold"/>
                <a:cs typeface="Codec Pro Ultra-Bold"/>
                <a:sym typeface="Codec Pro Ultra-Bold"/>
              </a:rPr>
              <a:t>Thiruvananthapuram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98646"/>
            <a:ext cx="16230600" cy="9689707"/>
          </a:xfrm>
          <a:custGeom>
            <a:avLst/>
            <a:gdLst/>
            <a:ahLst/>
            <a:cxnLst/>
            <a:rect r="r" b="b" t="t" l="l"/>
            <a:pathLst>
              <a:path h="9689707" w="16230600">
                <a:moveTo>
                  <a:pt x="0" y="0"/>
                </a:moveTo>
                <a:lnTo>
                  <a:pt x="16230600" y="0"/>
                </a:lnTo>
                <a:lnTo>
                  <a:pt x="16230600" y="9689708"/>
                </a:lnTo>
                <a:lnTo>
                  <a:pt x="0" y="9689708"/>
                </a:lnTo>
                <a:lnTo>
                  <a:pt x="0" y="0"/>
                </a:lnTo>
                <a:close/>
              </a:path>
            </a:pathLst>
          </a:custGeom>
          <a:blipFill>
            <a:blip r:embed="rId2"/>
            <a:stretch>
              <a:fillRect l="0" t="-18089"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04900"/>
            <a:ext cx="10278137" cy="7526661"/>
          </a:xfrm>
          <a:custGeom>
            <a:avLst/>
            <a:gdLst/>
            <a:ahLst/>
            <a:cxnLst/>
            <a:rect r="r" b="b" t="t" l="l"/>
            <a:pathLst>
              <a:path h="7526661" w="10278137">
                <a:moveTo>
                  <a:pt x="0" y="0"/>
                </a:moveTo>
                <a:lnTo>
                  <a:pt x="10278137" y="0"/>
                </a:lnTo>
                <a:lnTo>
                  <a:pt x="10278137" y="7526661"/>
                </a:lnTo>
                <a:lnTo>
                  <a:pt x="0" y="7526661"/>
                </a:lnTo>
                <a:lnTo>
                  <a:pt x="0" y="0"/>
                </a:lnTo>
                <a:close/>
              </a:path>
            </a:pathLst>
          </a:custGeom>
          <a:blipFill>
            <a:blip r:embed="rId2"/>
            <a:stretch>
              <a:fillRect l="-3030" t="-16515" r="0" b="-65612"/>
            </a:stretch>
          </a:blipFill>
        </p:spPr>
      </p:sp>
      <p:sp>
        <p:nvSpPr>
          <p:cNvPr name="Freeform 3" id="3"/>
          <p:cNvSpPr/>
          <p:nvPr/>
        </p:nvSpPr>
        <p:spPr>
          <a:xfrm flipH="false" flipV="false" rot="0">
            <a:off x="9229725" y="3667273"/>
            <a:ext cx="8767113" cy="4324007"/>
          </a:xfrm>
          <a:custGeom>
            <a:avLst/>
            <a:gdLst/>
            <a:ahLst/>
            <a:cxnLst/>
            <a:rect r="r" b="b" t="t" l="l"/>
            <a:pathLst>
              <a:path h="4324007" w="8767113">
                <a:moveTo>
                  <a:pt x="0" y="0"/>
                </a:moveTo>
                <a:lnTo>
                  <a:pt x="8767113" y="0"/>
                </a:lnTo>
                <a:lnTo>
                  <a:pt x="8767113" y="4324008"/>
                </a:lnTo>
                <a:lnTo>
                  <a:pt x="0" y="4324008"/>
                </a:lnTo>
                <a:lnTo>
                  <a:pt x="0" y="0"/>
                </a:lnTo>
                <a:close/>
              </a:path>
            </a:pathLst>
          </a:custGeom>
          <a:blipFill>
            <a:blip r:embed="rId2"/>
            <a:stretch>
              <a:fillRect l="-7185" t="-198737" r="-11669" b="-13216"/>
            </a:stretch>
          </a:blipFill>
        </p:spPr>
      </p:sp>
      <p:sp>
        <p:nvSpPr>
          <p:cNvPr name="AutoShape 4" id="4"/>
          <p:cNvSpPr/>
          <p:nvPr/>
        </p:nvSpPr>
        <p:spPr>
          <a:xfrm>
            <a:off x="4827282" y="8574411"/>
            <a:ext cx="4591332" cy="57150"/>
          </a:xfrm>
          <a:prstGeom prst="line">
            <a:avLst/>
          </a:prstGeom>
          <a:ln cap="flat" w="38100">
            <a:solidFill>
              <a:srgbClr val="000000"/>
            </a:solidFill>
            <a:prstDash val="solid"/>
            <a:headEnd type="none" len="sm" w="sm"/>
            <a:tailEnd type="none" len="sm" w="sm"/>
          </a:ln>
        </p:spPr>
      </p:sp>
      <p:sp>
        <p:nvSpPr>
          <p:cNvPr name="AutoShape 5" id="5"/>
          <p:cNvSpPr/>
          <p:nvPr/>
        </p:nvSpPr>
        <p:spPr>
          <a:xfrm>
            <a:off x="9418614" y="3627439"/>
            <a:ext cx="0" cy="4937447"/>
          </a:xfrm>
          <a:prstGeom prst="line">
            <a:avLst/>
          </a:prstGeom>
          <a:ln cap="flat" w="38100">
            <a:solidFill>
              <a:srgbClr val="000000"/>
            </a:solidFill>
            <a:prstDash val="solid"/>
            <a:headEnd type="none" len="sm" w="sm"/>
            <a:tailEnd type="none" len="sm" w="sm"/>
          </a:ln>
        </p:spPr>
      </p:sp>
      <p:sp>
        <p:nvSpPr>
          <p:cNvPr name="AutoShape 6" id="6"/>
          <p:cNvSpPr/>
          <p:nvPr/>
        </p:nvSpPr>
        <p:spPr>
          <a:xfrm>
            <a:off x="9418614" y="3667273"/>
            <a:ext cx="4326844" cy="0"/>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11476985" y="-1833986"/>
            <a:ext cx="7201474" cy="4910096"/>
          </a:xfrm>
          <a:custGeom>
            <a:avLst/>
            <a:gdLst/>
            <a:ahLst/>
            <a:cxnLst/>
            <a:rect r="r" b="b" t="t" l="l"/>
            <a:pathLst>
              <a:path h="4910096" w="7201474">
                <a:moveTo>
                  <a:pt x="0" y="0"/>
                </a:moveTo>
                <a:lnTo>
                  <a:pt x="7201475" y="0"/>
                </a:lnTo>
                <a:lnTo>
                  <a:pt x="7201475" y="4910096"/>
                </a:lnTo>
                <a:lnTo>
                  <a:pt x="0" y="49100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782987"/>
            <a:ext cx="4395221" cy="653350"/>
          </a:xfrm>
          <a:prstGeom prst="rect">
            <a:avLst/>
          </a:prstGeom>
        </p:spPr>
        <p:txBody>
          <a:bodyPr anchor="t" rtlCol="false" tIns="0" lIns="0" bIns="0" rIns="0">
            <a:spAutoFit/>
          </a:bodyPr>
          <a:lstStyle/>
          <a:p>
            <a:pPr algn="ctr">
              <a:lnSpc>
                <a:spcPts val="4894"/>
              </a:lnSpc>
            </a:pPr>
            <a:r>
              <a:rPr lang="en-US" sz="5438" spc="-271">
                <a:solidFill>
                  <a:srgbClr val="8B61C2"/>
                </a:solidFill>
                <a:latin typeface="TT Ramillas"/>
                <a:ea typeface="TT Ramillas"/>
                <a:cs typeface="TT Ramillas"/>
                <a:sym typeface="TT Ramillas"/>
              </a:rPr>
              <a:t>Methodology </a:t>
            </a:r>
          </a:p>
        </p:txBody>
      </p:sp>
      <p:sp>
        <p:nvSpPr>
          <p:cNvPr name="Freeform 9" id="9"/>
          <p:cNvSpPr/>
          <p:nvPr/>
        </p:nvSpPr>
        <p:spPr>
          <a:xfrm flipH="false" flipV="false" rot="0">
            <a:off x="-374427" y="8952010"/>
            <a:ext cx="7201474" cy="4910096"/>
          </a:xfrm>
          <a:custGeom>
            <a:avLst/>
            <a:gdLst/>
            <a:ahLst/>
            <a:cxnLst/>
            <a:rect r="r" b="b" t="t" l="l"/>
            <a:pathLst>
              <a:path h="4910096" w="7201474">
                <a:moveTo>
                  <a:pt x="0" y="0"/>
                </a:moveTo>
                <a:lnTo>
                  <a:pt x="7201475" y="0"/>
                </a:lnTo>
                <a:lnTo>
                  <a:pt x="7201475" y="4910096"/>
                </a:lnTo>
                <a:lnTo>
                  <a:pt x="0" y="49100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1658048" y="6058148"/>
            <a:ext cx="9750074" cy="2762898"/>
          </a:xfrm>
          <a:prstGeom prst="rect">
            <a:avLst/>
          </a:prstGeom>
        </p:spPr>
        <p:txBody>
          <a:bodyPr anchor="t" rtlCol="false" tIns="0" lIns="0" bIns="0" rIns="0">
            <a:spAutoFit/>
          </a:bodyPr>
          <a:lstStyle/>
          <a:p>
            <a:pPr algn="l">
              <a:lnSpc>
                <a:spcPts val="10045"/>
              </a:lnSpc>
            </a:pPr>
            <a:r>
              <a:rPr lang="en-US" sz="10250" spc="-512" b="true">
                <a:solidFill>
                  <a:srgbClr val="FFFFFF"/>
                </a:solidFill>
                <a:latin typeface="Codec Pro Ultra-Bold"/>
                <a:ea typeface="Codec Pro Ultra-Bold"/>
                <a:cs typeface="Codec Pro Ultra-Bold"/>
                <a:sym typeface="Codec Pro Ultra-Bold"/>
              </a:rPr>
              <a:t>Major Attractions</a:t>
            </a:r>
          </a:p>
        </p:txBody>
      </p:sp>
      <p:grpSp>
        <p:nvGrpSpPr>
          <p:cNvPr name="Group 4" id="4"/>
          <p:cNvGrpSpPr/>
          <p:nvPr/>
        </p:nvGrpSpPr>
        <p:grpSpPr>
          <a:xfrm rot="0">
            <a:off x="10478477" y="2635251"/>
            <a:ext cx="5668336" cy="5596672"/>
            <a:chOff x="0" y="0"/>
            <a:chExt cx="1492895" cy="1474021"/>
          </a:xfrm>
        </p:grpSpPr>
        <p:sp>
          <p:nvSpPr>
            <p:cNvPr name="Freeform 5" id="5"/>
            <p:cNvSpPr/>
            <p:nvPr/>
          </p:nvSpPr>
          <p:spPr>
            <a:xfrm flipH="false" flipV="false" rot="0">
              <a:off x="0" y="0"/>
              <a:ext cx="1492895" cy="1474021"/>
            </a:xfrm>
            <a:custGeom>
              <a:avLst/>
              <a:gdLst/>
              <a:ahLst/>
              <a:cxnLst/>
              <a:rect r="r" b="b" t="t" l="l"/>
              <a:pathLst>
                <a:path h="1474021" w="1492895">
                  <a:moveTo>
                    <a:pt x="42340" y="0"/>
                  </a:moveTo>
                  <a:lnTo>
                    <a:pt x="1450555" y="0"/>
                  </a:lnTo>
                  <a:cubicBezTo>
                    <a:pt x="1473939" y="0"/>
                    <a:pt x="1492895" y="18956"/>
                    <a:pt x="1492895" y="42340"/>
                  </a:cubicBezTo>
                  <a:lnTo>
                    <a:pt x="1492895" y="1431680"/>
                  </a:lnTo>
                  <a:cubicBezTo>
                    <a:pt x="1492895" y="1455064"/>
                    <a:pt x="1473939" y="1474021"/>
                    <a:pt x="1450555" y="1474021"/>
                  </a:cubicBezTo>
                  <a:lnTo>
                    <a:pt x="42340" y="1474021"/>
                  </a:lnTo>
                  <a:cubicBezTo>
                    <a:pt x="31111" y="1474021"/>
                    <a:pt x="20342" y="1469560"/>
                    <a:pt x="12401" y="1461620"/>
                  </a:cubicBezTo>
                  <a:cubicBezTo>
                    <a:pt x="4461" y="1453679"/>
                    <a:pt x="0" y="1442910"/>
                    <a:pt x="0" y="1431680"/>
                  </a:cubicBezTo>
                  <a:lnTo>
                    <a:pt x="0" y="42340"/>
                  </a:lnTo>
                  <a:cubicBezTo>
                    <a:pt x="0" y="18956"/>
                    <a:pt x="18956" y="0"/>
                    <a:pt x="42340" y="0"/>
                  </a:cubicBezTo>
                  <a:close/>
                </a:path>
              </a:pathLst>
            </a:custGeom>
            <a:solidFill>
              <a:srgbClr val="FFFFFF">
                <a:alpha val="19608"/>
              </a:srgbClr>
            </a:solidFill>
          </p:spPr>
        </p:sp>
        <p:sp>
          <p:nvSpPr>
            <p:cNvPr name="TextBox 6" id="6"/>
            <p:cNvSpPr txBox="true"/>
            <p:nvPr/>
          </p:nvSpPr>
          <p:spPr>
            <a:xfrm>
              <a:off x="0" y="-85725"/>
              <a:ext cx="1492895" cy="1559746"/>
            </a:xfrm>
            <a:prstGeom prst="rect">
              <a:avLst/>
            </a:prstGeom>
          </p:spPr>
          <p:txBody>
            <a:bodyPr anchor="ctr" rtlCol="false" tIns="50800" lIns="50800" bIns="50800" rIns="50800"/>
            <a:lstStyle/>
            <a:p>
              <a:pPr algn="ctr">
                <a:lnSpc>
                  <a:spcPts val="3151"/>
                </a:lnSpc>
              </a:pPr>
            </a:p>
          </p:txBody>
        </p:sp>
      </p:grpSp>
      <p:grpSp>
        <p:nvGrpSpPr>
          <p:cNvPr name="Group 7" id="7"/>
          <p:cNvGrpSpPr/>
          <p:nvPr/>
        </p:nvGrpSpPr>
        <p:grpSpPr>
          <a:xfrm rot="0">
            <a:off x="10478477" y="2663826"/>
            <a:ext cx="5668336" cy="5596672"/>
            <a:chOff x="0" y="0"/>
            <a:chExt cx="1492895" cy="1474021"/>
          </a:xfrm>
        </p:grpSpPr>
        <p:sp>
          <p:nvSpPr>
            <p:cNvPr name="Freeform 8" id="8"/>
            <p:cNvSpPr/>
            <p:nvPr/>
          </p:nvSpPr>
          <p:spPr>
            <a:xfrm flipH="false" flipV="false" rot="0">
              <a:off x="0" y="0"/>
              <a:ext cx="1492895" cy="1474021"/>
            </a:xfrm>
            <a:custGeom>
              <a:avLst/>
              <a:gdLst/>
              <a:ahLst/>
              <a:cxnLst/>
              <a:rect r="r" b="b" t="t" l="l"/>
              <a:pathLst>
                <a:path h="1474021" w="1492895">
                  <a:moveTo>
                    <a:pt x="42340" y="0"/>
                  </a:moveTo>
                  <a:lnTo>
                    <a:pt x="1450555" y="0"/>
                  </a:lnTo>
                  <a:cubicBezTo>
                    <a:pt x="1473939" y="0"/>
                    <a:pt x="1492895" y="18956"/>
                    <a:pt x="1492895" y="42340"/>
                  </a:cubicBezTo>
                  <a:lnTo>
                    <a:pt x="1492895" y="1431680"/>
                  </a:lnTo>
                  <a:cubicBezTo>
                    <a:pt x="1492895" y="1455064"/>
                    <a:pt x="1473939" y="1474021"/>
                    <a:pt x="1450555" y="1474021"/>
                  </a:cubicBezTo>
                  <a:lnTo>
                    <a:pt x="42340" y="1474021"/>
                  </a:lnTo>
                  <a:cubicBezTo>
                    <a:pt x="31111" y="1474021"/>
                    <a:pt x="20342" y="1469560"/>
                    <a:pt x="12401" y="1461620"/>
                  </a:cubicBezTo>
                  <a:cubicBezTo>
                    <a:pt x="4461" y="1453679"/>
                    <a:pt x="0" y="1442910"/>
                    <a:pt x="0" y="1431680"/>
                  </a:cubicBezTo>
                  <a:lnTo>
                    <a:pt x="0" y="42340"/>
                  </a:lnTo>
                  <a:cubicBezTo>
                    <a:pt x="0" y="18956"/>
                    <a:pt x="18956" y="0"/>
                    <a:pt x="42340" y="0"/>
                  </a:cubicBezTo>
                  <a:close/>
                </a:path>
              </a:pathLst>
            </a:custGeom>
            <a:solidFill>
              <a:srgbClr val="FFFFFF"/>
            </a:solidFill>
            <a:ln w="28575" cap="rnd">
              <a:solidFill>
                <a:srgbClr val="FFFFFF"/>
              </a:solidFill>
              <a:prstDash val="solid"/>
              <a:round/>
            </a:ln>
          </p:spPr>
        </p:sp>
        <p:sp>
          <p:nvSpPr>
            <p:cNvPr name="TextBox 9" id="9"/>
            <p:cNvSpPr txBox="true"/>
            <p:nvPr/>
          </p:nvSpPr>
          <p:spPr>
            <a:xfrm>
              <a:off x="0" y="-85725"/>
              <a:ext cx="1492895" cy="1559746"/>
            </a:xfrm>
            <a:prstGeom prst="rect">
              <a:avLst/>
            </a:prstGeom>
          </p:spPr>
          <p:txBody>
            <a:bodyPr anchor="ctr" rtlCol="false" tIns="50800" lIns="50800" bIns="50800" rIns="50800"/>
            <a:lstStyle/>
            <a:p>
              <a:pPr algn="ctr">
                <a:lnSpc>
                  <a:spcPts val="3151"/>
                </a:lnSpc>
              </a:pPr>
            </a:p>
          </p:txBody>
        </p:sp>
      </p:grpSp>
      <p:grpSp>
        <p:nvGrpSpPr>
          <p:cNvPr name="Group 10" id="10"/>
          <p:cNvGrpSpPr/>
          <p:nvPr/>
        </p:nvGrpSpPr>
        <p:grpSpPr>
          <a:xfrm rot="0">
            <a:off x="980633" y="405728"/>
            <a:ext cx="5239192" cy="5027860"/>
            <a:chOff x="0" y="0"/>
            <a:chExt cx="1154875" cy="1108291"/>
          </a:xfrm>
        </p:grpSpPr>
        <p:sp>
          <p:nvSpPr>
            <p:cNvPr name="Freeform 11" id="11"/>
            <p:cNvSpPr/>
            <p:nvPr/>
          </p:nvSpPr>
          <p:spPr>
            <a:xfrm flipH="false" flipV="false" rot="0">
              <a:off x="0" y="0"/>
              <a:ext cx="1154875" cy="1108291"/>
            </a:xfrm>
            <a:custGeom>
              <a:avLst/>
              <a:gdLst/>
              <a:ahLst/>
              <a:cxnLst/>
              <a:rect r="r" b="b" t="t" l="l"/>
              <a:pathLst>
                <a:path h="1108291" w="1154875">
                  <a:moveTo>
                    <a:pt x="42853" y="0"/>
                  </a:moveTo>
                  <a:lnTo>
                    <a:pt x="1112021" y="0"/>
                  </a:lnTo>
                  <a:cubicBezTo>
                    <a:pt x="1135689" y="0"/>
                    <a:pt x="1154875" y="19186"/>
                    <a:pt x="1154875" y="42853"/>
                  </a:cubicBezTo>
                  <a:lnTo>
                    <a:pt x="1154875" y="1065437"/>
                  </a:lnTo>
                  <a:cubicBezTo>
                    <a:pt x="1154875" y="1089105"/>
                    <a:pt x="1135689" y="1108291"/>
                    <a:pt x="1112021" y="1108291"/>
                  </a:cubicBezTo>
                  <a:lnTo>
                    <a:pt x="42853" y="1108291"/>
                  </a:lnTo>
                  <a:cubicBezTo>
                    <a:pt x="19186" y="1108291"/>
                    <a:pt x="0" y="1089105"/>
                    <a:pt x="0" y="1065437"/>
                  </a:cubicBezTo>
                  <a:lnTo>
                    <a:pt x="0" y="42853"/>
                  </a:lnTo>
                  <a:cubicBezTo>
                    <a:pt x="0" y="19186"/>
                    <a:pt x="19186" y="0"/>
                    <a:pt x="42853" y="0"/>
                  </a:cubicBezTo>
                  <a:close/>
                </a:path>
              </a:pathLst>
            </a:custGeom>
            <a:blipFill>
              <a:blip r:embed="rId3"/>
              <a:stretch>
                <a:fillRect l="0" t="-41607" r="0" b="-41607"/>
              </a:stretch>
            </a:blipFill>
          </p:spPr>
        </p:sp>
      </p:grpSp>
      <p:sp>
        <p:nvSpPr>
          <p:cNvPr name="TextBox 12" id="12"/>
          <p:cNvSpPr txBox="true"/>
          <p:nvPr/>
        </p:nvSpPr>
        <p:spPr>
          <a:xfrm rot="0">
            <a:off x="10739232" y="2652958"/>
            <a:ext cx="4904379" cy="5229225"/>
          </a:xfrm>
          <a:prstGeom prst="rect">
            <a:avLst/>
          </a:prstGeom>
        </p:spPr>
        <p:txBody>
          <a:bodyPr anchor="t" rtlCol="false" tIns="0" lIns="0" bIns="0" rIns="0">
            <a:spAutoFit/>
          </a:bodyPr>
          <a:lstStyle/>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Padmanabhaswamy Temple</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Kovalam Beach</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Varkala Beach &amp; Cliff</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Neyyar Wildlife Sanctuary</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Sree Chitra Art Gallery</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Ponmudi Hill Station</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Shankumugham Beach</a:t>
            </a:r>
          </a:p>
          <a:p>
            <a:pPr algn="just" marL="513513" indent="-256757" lvl="1">
              <a:lnSpc>
                <a:spcPts val="5232"/>
              </a:lnSpc>
              <a:buFont typeface="Arial"/>
              <a:buChar char="•"/>
            </a:pPr>
            <a:r>
              <a:rPr lang="en-US" sz="2378">
                <a:solidFill>
                  <a:srgbClr val="000000"/>
                </a:solidFill>
                <a:latin typeface="Codec Pro"/>
                <a:ea typeface="Codec Pro"/>
                <a:cs typeface="Codec Pro"/>
                <a:sym typeface="Codec Pro"/>
              </a:rPr>
              <a:t>Kuthiramalika (Palace)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6284" y="651177"/>
            <a:ext cx="10119106" cy="8984646"/>
          </a:xfrm>
          <a:custGeom>
            <a:avLst/>
            <a:gdLst/>
            <a:ahLst/>
            <a:cxnLst/>
            <a:rect r="r" b="b" t="t" l="l"/>
            <a:pathLst>
              <a:path h="8984646" w="10119106">
                <a:moveTo>
                  <a:pt x="0" y="0"/>
                </a:moveTo>
                <a:lnTo>
                  <a:pt x="10119106" y="0"/>
                </a:lnTo>
                <a:lnTo>
                  <a:pt x="10119106" y="8984646"/>
                </a:lnTo>
                <a:lnTo>
                  <a:pt x="0" y="8984646"/>
                </a:lnTo>
                <a:lnTo>
                  <a:pt x="0" y="0"/>
                </a:lnTo>
                <a:close/>
              </a:path>
            </a:pathLst>
          </a:custGeom>
          <a:blipFill>
            <a:blip r:embed="rId2"/>
            <a:stretch>
              <a:fillRect l="0" t="-22012" r="0" b="-37458"/>
            </a:stretch>
          </a:blipFill>
        </p:spPr>
      </p:sp>
      <p:sp>
        <p:nvSpPr>
          <p:cNvPr name="TextBox 3" id="3"/>
          <p:cNvSpPr txBox="true"/>
          <p:nvPr/>
        </p:nvSpPr>
        <p:spPr>
          <a:xfrm rot="0">
            <a:off x="10705390" y="1580922"/>
            <a:ext cx="5685392" cy="5636556"/>
          </a:xfrm>
          <a:prstGeom prst="rect">
            <a:avLst/>
          </a:prstGeom>
        </p:spPr>
        <p:txBody>
          <a:bodyPr anchor="t" rtlCol="false" tIns="0" lIns="0" bIns="0" rIns="0">
            <a:spAutoFit/>
          </a:bodyPr>
          <a:lstStyle/>
          <a:p>
            <a:pPr algn="just">
              <a:lnSpc>
                <a:spcPts val="2793"/>
              </a:lnSpc>
            </a:pPr>
            <a:r>
              <a:rPr lang="en-US" sz="1995">
                <a:solidFill>
                  <a:srgbClr val="000000"/>
                </a:solidFill>
                <a:latin typeface="Canva Sans"/>
                <a:ea typeface="Canva Sans"/>
                <a:cs typeface="Canva Sans"/>
                <a:sym typeface="Canva Sans"/>
              </a:rPr>
              <a:t>The tourist sites and hub map of Thiruvananthapuram district was created using GIS by plotting shapefiles for major tourist attractions, including beaches, temples, hill stations, and wildlife areas. Each tourist spot is represented as a point on the map, and key tourist hubs—areas with a high concentration of amenities such as hotels, restaurants, and transport facilities—are highlighted.</a:t>
            </a:r>
          </a:p>
          <a:p>
            <a:pPr algn="just">
              <a:lnSpc>
                <a:spcPts val="2793"/>
              </a:lnSpc>
            </a:pPr>
            <a:r>
              <a:rPr lang="en-US" sz="1995">
                <a:solidFill>
                  <a:srgbClr val="000000"/>
                </a:solidFill>
                <a:latin typeface="Canva Sans"/>
                <a:ea typeface="Canva Sans"/>
                <a:cs typeface="Canva Sans"/>
                <a:sym typeface="Canva Sans"/>
              </a:rPr>
              <a:t> This map visually represents the spatial distribution of tourism resources, helping to identify popular clusters, plan infrastructure, and support sustainable tourism development by showing where services are concentrated and where gaps exist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40228" y="5466252"/>
            <a:ext cx="7303772" cy="2836794"/>
            <a:chOff x="0" y="0"/>
            <a:chExt cx="1923627" cy="747139"/>
          </a:xfrm>
        </p:grpSpPr>
        <p:sp>
          <p:nvSpPr>
            <p:cNvPr name="Freeform 3" id="3"/>
            <p:cNvSpPr/>
            <p:nvPr/>
          </p:nvSpPr>
          <p:spPr>
            <a:xfrm flipH="false" flipV="false" rot="0">
              <a:off x="0" y="0"/>
              <a:ext cx="1923627" cy="747139"/>
            </a:xfrm>
            <a:custGeom>
              <a:avLst/>
              <a:gdLst/>
              <a:ahLst/>
              <a:cxnLst/>
              <a:rect r="r" b="b" t="t" l="l"/>
              <a:pathLst>
                <a:path h="747139" w="1923627">
                  <a:moveTo>
                    <a:pt x="32860" y="0"/>
                  </a:moveTo>
                  <a:lnTo>
                    <a:pt x="1890768" y="0"/>
                  </a:lnTo>
                  <a:cubicBezTo>
                    <a:pt x="1908916" y="0"/>
                    <a:pt x="1923627" y="14712"/>
                    <a:pt x="1923627" y="32860"/>
                  </a:cubicBezTo>
                  <a:lnTo>
                    <a:pt x="1923627" y="714280"/>
                  </a:lnTo>
                  <a:cubicBezTo>
                    <a:pt x="1923627" y="732427"/>
                    <a:pt x="1908916" y="747139"/>
                    <a:pt x="1890768" y="747139"/>
                  </a:cubicBezTo>
                  <a:lnTo>
                    <a:pt x="32860" y="747139"/>
                  </a:lnTo>
                  <a:cubicBezTo>
                    <a:pt x="24145" y="747139"/>
                    <a:pt x="15787" y="743677"/>
                    <a:pt x="9624" y="737515"/>
                  </a:cubicBezTo>
                  <a:cubicBezTo>
                    <a:pt x="3462" y="731353"/>
                    <a:pt x="0" y="722995"/>
                    <a:pt x="0" y="714280"/>
                  </a:cubicBezTo>
                  <a:lnTo>
                    <a:pt x="0" y="32860"/>
                  </a:lnTo>
                  <a:cubicBezTo>
                    <a:pt x="0" y="14712"/>
                    <a:pt x="14712" y="0"/>
                    <a:pt x="32860" y="0"/>
                  </a:cubicBezTo>
                  <a:close/>
                </a:path>
              </a:pathLst>
            </a:custGeom>
            <a:solidFill>
              <a:srgbClr val="FFFFFF">
                <a:alpha val="19608"/>
              </a:srgbClr>
            </a:solidFill>
          </p:spPr>
        </p:sp>
        <p:sp>
          <p:nvSpPr>
            <p:cNvPr name="TextBox 4" id="4"/>
            <p:cNvSpPr txBox="true"/>
            <p:nvPr/>
          </p:nvSpPr>
          <p:spPr>
            <a:xfrm>
              <a:off x="0" y="-85725"/>
              <a:ext cx="1923627" cy="832864"/>
            </a:xfrm>
            <a:prstGeom prst="rect">
              <a:avLst/>
            </a:prstGeom>
          </p:spPr>
          <p:txBody>
            <a:bodyPr anchor="ctr" rtlCol="false" tIns="50800" lIns="50800" bIns="50800" rIns="50800"/>
            <a:lstStyle/>
            <a:p>
              <a:pPr algn="ctr">
                <a:lnSpc>
                  <a:spcPts val="3151"/>
                </a:lnSpc>
              </a:pPr>
            </a:p>
          </p:txBody>
        </p:sp>
      </p:grpSp>
      <p:grpSp>
        <p:nvGrpSpPr>
          <p:cNvPr name="Group 5" id="5"/>
          <p:cNvGrpSpPr/>
          <p:nvPr/>
        </p:nvGrpSpPr>
        <p:grpSpPr>
          <a:xfrm rot="0">
            <a:off x="1112130" y="871029"/>
            <a:ext cx="6599200" cy="7801419"/>
            <a:chOff x="0" y="0"/>
            <a:chExt cx="1044967" cy="1235336"/>
          </a:xfrm>
        </p:grpSpPr>
        <p:sp>
          <p:nvSpPr>
            <p:cNvPr name="Freeform 6" id="6"/>
            <p:cNvSpPr/>
            <p:nvPr/>
          </p:nvSpPr>
          <p:spPr>
            <a:xfrm flipH="false" flipV="false" rot="0">
              <a:off x="0" y="0"/>
              <a:ext cx="1044967" cy="1235336"/>
            </a:xfrm>
            <a:custGeom>
              <a:avLst/>
              <a:gdLst/>
              <a:ahLst/>
              <a:cxnLst/>
              <a:rect r="r" b="b" t="t" l="l"/>
              <a:pathLst>
                <a:path h="1235336" w="1044967">
                  <a:moveTo>
                    <a:pt x="36368" y="0"/>
                  </a:moveTo>
                  <a:lnTo>
                    <a:pt x="1008599" y="0"/>
                  </a:lnTo>
                  <a:cubicBezTo>
                    <a:pt x="1018245" y="0"/>
                    <a:pt x="1027495" y="3832"/>
                    <a:pt x="1034315" y="10652"/>
                  </a:cubicBezTo>
                  <a:cubicBezTo>
                    <a:pt x="1041135" y="17472"/>
                    <a:pt x="1044967" y="26723"/>
                    <a:pt x="1044967" y="36368"/>
                  </a:cubicBezTo>
                  <a:lnTo>
                    <a:pt x="1044967" y="1198968"/>
                  </a:lnTo>
                  <a:cubicBezTo>
                    <a:pt x="1044967" y="1219053"/>
                    <a:pt x="1028685" y="1235336"/>
                    <a:pt x="1008599" y="1235336"/>
                  </a:cubicBezTo>
                  <a:lnTo>
                    <a:pt x="36368" y="1235336"/>
                  </a:lnTo>
                  <a:cubicBezTo>
                    <a:pt x="26723" y="1235336"/>
                    <a:pt x="17472" y="1231504"/>
                    <a:pt x="10652" y="1224684"/>
                  </a:cubicBezTo>
                  <a:cubicBezTo>
                    <a:pt x="3832" y="1217863"/>
                    <a:pt x="0" y="1208613"/>
                    <a:pt x="0" y="1198968"/>
                  </a:cubicBezTo>
                  <a:lnTo>
                    <a:pt x="0" y="36368"/>
                  </a:lnTo>
                  <a:cubicBezTo>
                    <a:pt x="0" y="26723"/>
                    <a:pt x="3832" y="17472"/>
                    <a:pt x="10652" y="10652"/>
                  </a:cubicBezTo>
                  <a:cubicBezTo>
                    <a:pt x="17472" y="3832"/>
                    <a:pt x="26723" y="0"/>
                    <a:pt x="36368" y="0"/>
                  </a:cubicBezTo>
                  <a:close/>
                </a:path>
              </a:pathLst>
            </a:custGeom>
            <a:solidFill>
              <a:srgbClr val="000000">
                <a:alpha val="0"/>
              </a:srgbClr>
            </a:solidFill>
            <a:ln w="28575" cap="rnd">
              <a:solidFill>
                <a:srgbClr val="FFFFFF"/>
              </a:solidFill>
              <a:prstDash val="solid"/>
              <a:round/>
            </a:ln>
          </p:spPr>
        </p:sp>
        <p:sp>
          <p:nvSpPr>
            <p:cNvPr name="TextBox 7" id="7"/>
            <p:cNvSpPr txBox="true"/>
            <p:nvPr/>
          </p:nvSpPr>
          <p:spPr>
            <a:xfrm>
              <a:off x="0" y="-66675"/>
              <a:ext cx="1044967" cy="1302011"/>
            </a:xfrm>
            <a:prstGeom prst="rect">
              <a:avLst/>
            </a:prstGeom>
          </p:spPr>
          <p:txBody>
            <a:bodyPr anchor="ctr" rtlCol="false" tIns="50800" lIns="50800" bIns="50800" rIns="50800"/>
            <a:lstStyle/>
            <a:p>
              <a:pPr algn="just">
                <a:lnSpc>
                  <a:spcPts val="2659"/>
                </a:lnSpc>
              </a:pPr>
              <a:r>
                <a:rPr lang="en-US" sz="1899">
                  <a:solidFill>
                    <a:srgbClr val="000000"/>
                  </a:solidFill>
                  <a:latin typeface="Codec Pro"/>
                  <a:ea typeface="Codec Pro"/>
                  <a:cs typeface="Codec Pro"/>
                  <a:sym typeface="Codec Pro"/>
                </a:rPr>
                <a:t>The majority of built-up areas (red/orange) align with the coast a</a:t>
              </a:r>
              <a:r>
                <a:rPr lang="en-US" sz="1899">
                  <a:solidFill>
                    <a:srgbClr val="000000"/>
                  </a:solidFill>
                  <a:latin typeface="Codec Pro"/>
                  <a:ea typeface="Codec Pro"/>
                  <a:cs typeface="Codec Pro"/>
                  <a:sym typeface="Codec Pro"/>
                </a:rPr>
                <a:t>nd the southwest quadrant, coinciding with highly concentrated tourist activity.</a:t>
              </a:r>
            </a:p>
            <a:p>
              <a:pPr algn="just">
                <a:lnSpc>
                  <a:spcPts val="2659"/>
                </a:lnSpc>
              </a:pPr>
              <a:r>
                <a:rPr lang="en-US" sz="1899">
                  <a:solidFill>
                    <a:srgbClr val="000000"/>
                  </a:solidFill>
                  <a:latin typeface="Codec Pro"/>
                  <a:ea typeface="Codec Pro"/>
                  <a:cs typeface="Codec Pro"/>
                  <a:sym typeface="Codec Pro"/>
                </a:rPr>
                <a:t>Many tourist destinations (palaces, temples, museums) are located in or near built-up areas, highlighting the link between urbanization and tourism.</a:t>
              </a:r>
            </a:p>
          </p:txBody>
        </p:sp>
      </p:grpSp>
      <p:sp>
        <p:nvSpPr>
          <p:cNvPr name="Freeform 8" id="8"/>
          <p:cNvSpPr/>
          <p:nvPr/>
        </p:nvSpPr>
        <p:spPr>
          <a:xfrm flipH="false" flipV="false" rot="0">
            <a:off x="8311405" y="-868541"/>
            <a:ext cx="8947895" cy="12669586"/>
          </a:xfrm>
          <a:custGeom>
            <a:avLst/>
            <a:gdLst/>
            <a:ahLst/>
            <a:cxnLst/>
            <a:rect r="r" b="b" t="t" l="l"/>
            <a:pathLst>
              <a:path h="12669586" w="8947895">
                <a:moveTo>
                  <a:pt x="0" y="0"/>
                </a:moveTo>
                <a:lnTo>
                  <a:pt x="8947895" y="0"/>
                </a:lnTo>
                <a:lnTo>
                  <a:pt x="8947895" y="12669586"/>
                </a:lnTo>
                <a:lnTo>
                  <a:pt x="0" y="12669586"/>
                </a:lnTo>
                <a:lnTo>
                  <a:pt x="0" y="0"/>
                </a:lnTo>
                <a:close/>
              </a:path>
            </a:pathLst>
          </a:custGeom>
          <a:blipFill>
            <a:blip r:embed="rId2"/>
            <a:stretch>
              <a:fillRect l="0" t="0" r="0" b="0"/>
            </a:stretch>
          </a:blipFill>
        </p:spPr>
      </p:sp>
      <p:sp>
        <p:nvSpPr>
          <p:cNvPr name="Freeform 9" id="9"/>
          <p:cNvSpPr/>
          <p:nvPr/>
        </p:nvSpPr>
        <p:spPr>
          <a:xfrm flipH="false" flipV="false" rot="0">
            <a:off x="3947193" y="10287000"/>
            <a:ext cx="3089841" cy="4114800"/>
          </a:xfrm>
          <a:custGeom>
            <a:avLst/>
            <a:gdLst/>
            <a:ahLst/>
            <a:cxnLst/>
            <a:rect r="r" b="b" t="t" l="l"/>
            <a:pathLst>
              <a:path h="4114800" w="3089841">
                <a:moveTo>
                  <a:pt x="0" y="0"/>
                </a:moveTo>
                <a:lnTo>
                  <a:pt x="3089841" y="0"/>
                </a:lnTo>
                <a:lnTo>
                  <a:pt x="308984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438297" y="7430682"/>
            <a:ext cx="14413572" cy="9827435"/>
          </a:xfrm>
          <a:custGeom>
            <a:avLst/>
            <a:gdLst/>
            <a:ahLst/>
            <a:cxnLst/>
            <a:rect r="r" b="b" t="t" l="l"/>
            <a:pathLst>
              <a:path h="9827435" w="14413572">
                <a:moveTo>
                  <a:pt x="0" y="0"/>
                </a:moveTo>
                <a:lnTo>
                  <a:pt x="14413572" y="0"/>
                </a:lnTo>
                <a:lnTo>
                  <a:pt x="14413572" y="9827436"/>
                </a:lnTo>
                <a:lnTo>
                  <a:pt x="0" y="98274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192867" y="923783"/>
            <a:ext cx="5484775" cy="1650479"/>
          </a:xfrm>
          <a:prstGeom prst="rect">
            <a:avLst/>
          </a:prstGeom>
        </p:spPr>
        <p:txBody>
          <a:bodyPr anchor="t" rtlCol="false" tIns="0" lIns="0" bIns="0" rIns="0">
            <a:spAutoFit/>
          </a:bodyPr>
          <a:lstStyle/>
          <a:p>
            <a:pPr algn="l">
              <a:lnSpc>
                <a:spcPts val="5981"/>
              </a:lnSpc>
            </a:pPr>
            <a:r>
              <a:rPr lang="en-US" sz="6103" spc="-305" b="true">
                <a:solidFill>
                  <a:srgbClr val="000000"/>
                </a:solidFill>
                <a:latin typeface="Codec Pro Ultra-Bold"/>
                <a:ea typeface="Codec Pro Ultra-Bold"/>
                <a:cs typeface="Codec Pro Ultra-Bold"/>
                <a:sym typeface="Codec Pro Ultra-Bold"/>
              </a:rPr>
              <a:t>Land Use Land Cover</a:t>
            </a:r>
          </a:p>
        </p:txBody>
      </p:sp>
      <p:sp>
        <p:nvSpPr>
          <p:cNvPr name="TextBox 12" id="12"/>
          <p:cNvSpPr txBox="true"/>
          <p:nvPr/>
        </p:nvSpPr>
        <p:spPr>
          <a:xfrm rot="0">
            <a:off x="9144000" y="807270"/>
            <a:ext cx="1662550" cy="42859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Codec Pro"/>
                <a:ea typeface="Codec Pro"/>
                <a:cs typeface="Codec Pro"/>
                <a:sym typeface="Codec Pro"/>
              </a:rPr>
              <a:t>Home</a:t>
            </a:r>
          </a:p>
        </p:txBody>
      </p:sp>
      <p:sp>
        <p:nvSpPr>
          <p:cNvPr name="TextBox 13" id="13"/>
          <p:cNvSpPr txBox="true"/>
          <p:nvPr/>
        </p:nvSpPr>
        <p:spPr>
          <a:xfrm rot="0">
            <a:off x="11408122" y="809483"/>
            <a:ext cx="1907082" cy="42859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Codec Pro"/>
                <a:ea typeface="Codec Pro"/>
                <a:cs typeface="Codec Pro"/>
                <a:sym typeface="Codec Pro"/>
              </a:rPr>
              <a:t>About</a:t>
            </a:r>
          </a:p>
        </p:txBody>
      </p:sp>
      <p:sp>
        <p:nvSpPr>
          <p:cNvPr name="TextBox 14" id="14"/>
          <p:cNvSpPr txBox="true"/>
          <p:nvPr/>
        </p:nvSpPr>
        <p:spPr>
          <a:xfrm rot="0">
            <a:off x="13726729" y="785304"/>
            <a:ext cx="1916881" cy="42859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Codec Pro Ultra-Bold"/>
                <a:ea typeface="Codec Pro Ultra-Bold"/>
                <a:cs typeface="Codec Pro Ultra-Bold"/>
                <a:sym typeface="Codec Pro Ultra-Bold"/>
              </a:rPr>
              <a:t>Content</a:t>
            </a:r>
          </a:p>
        </p:txBody>
      </p:sp>
      <p:sp>
        <p:nvSpPr>
          <p:cNvPr name="TextBox 15" id="15"/>
          <p:cNvSpPr txBox="true"/>
          <p:nvPr/>
        </p:nvSpPr>
        <p:spPr>
          <a:xfrm rot="0">
            <a:off x="15034325" y="807270"/>
            <a:ext cx="2224975" cy="42859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Codec Pro"/>
                <a:ea typeface="Codec Pro"/>
                <a:cs typeface="Codec Pro"/>
                <a:sym typeface="Codec Pro"/>
              </a:rPr>
              <a:t>Others</a:t>
            </a:r>
          </a:p>
        </p:txBody>
      </p:sp>
      <p:sp>
        <p:nvSpPr>
          <p:cNvPr name="TextBox 16" id="16"/>
          <p:cNvSpPr txBox="true"/>
          <p:nvPr/>
        </p:nvSpPr>
        <p:spPr>
          <a:xfrm rot="0">
            <a:off x="1192867" y="2852439"/>
            <a:ext cx="5990202" cy="632613"/>
          </a:xfrm>
          <a:prstGeom prst="rect">
            <a:avLst/>
          </a:prstGeom>
        </p:spPr>
        <p:txBody>
          <a:bodyPr anchor="t" rtlCol="false" tIns="0" lIns="0" bIns="0" rIns="0">
            <a:spAutoFit/>
          </a:bodyPr>
          <a:lstStyle/>
          <a:p>
            <a:pPr algn="l">
              <a:lnSpc>
                <a:spcPts val="4205"/>
              </a:lnSpc>
            </a:pPr>
            <a:r>
              <a:rPr lang="en-US" sz="4291" spc="-214" b="true">
                <a:solidFill>
                  <a:srgbClr val="000000"/>
                </a:solidFill>
                <a:latin typeface="Codec Pro Bold"/>
                <a:ea typeface="Codec Pro Bold"/>
                <a:cs typeface="Codec Pro Bold"/>
                <a:sym typeface="Codec Pro Bold"/>
              </a:rPr>
              <a:t>Urban-Tourism Nexus</a:t>
            </a:r>
          </a:p>
        </p:txBody>
      </p:sp>
      <p:sp>
        <p:nvSpPr>
          <p:cNvPr name="TextBox 17" id="17"/>
          <p:cNvSpPr txBox="true"/>
          <p:nvPr/>
        </p:nvSpPr>
        <p:spPr>
          <a:xfrm rot="0">
            <a:off x="1192867" y="6026850"/>
            <a:ext cx="5990202" cy="1164384"/>
          </a:xfrm>
          <a:prstGeom prst="rect">
            <a:avLst/>
          </a:prstGeom>
        </p:spPr>
        <p:txBody>
          <a:bodyPr anchor="t" rtlCol="false" tIns="0" lIns="0" bIns="0" rIns="0">
            <a:spAutoFit/>
          </a:bodyPr>
          <a:lstStyle/>
          <a:p>
            <a:pPr algn="l">
              <a:lnSpc>
                <a:spcPts val="4205"/>
              </a:lnSpc>
            </a:pPr>
            <a:r>
              <a:rPr lang="en-US" sz="4291" spc="-214" b="true">
                <a:solidFill>
                  <a:srgbClr val="000000"/>
                </a:solidFill>
                <a:latin typeface="Codec Pro Bold"/>
                <a:ea typeface="Codec Pro Bold"/>
                <a:cs typeface="Codec Pro Bold"/>
                <a:sym typeface="Codec Pro Bold"/>
              </a:rPr>
              <a:t>Natural Appeal vs. Urban Threat</a:t>
            </a:r>
          </a:p>
        </p:txBody>
      </p:sp>
      <p:grpSp>
        <p:nvGrpSpPr>
          <p:cNvPr name="Group 18" id="18"/>
          <p:cNvGrpSpPr/>
          <p:nvPr/>
        </p:nvGrpSpPr>
        <p:grpSpPr>
          <a:xfrm rot="0">
            <a:off x="1112130" y="6599517"/>
            <a:ext cx="6070939" cy="3443574"/>
            <a:chOff x="0" y="0"/>
            <a:chExt cx="961318" cy="545281"/>
          </a:xfrm>
        </p:grpSpPr>
        <p:sp>
          <p:nvSpPr>
            <p:cNvPr name="Freeform 19" id="19"/>
            <p:cNvSpPr/>
            <p:nvPr/>
          </p:nvSpPr>
          <p:spPr>
            <a:xfrm flipH="false" flipV="false" rot="0">
              <a:off x="0" y="0"/>
              <a:ext cx="961318" cy="545281"/>
            </a:xfrm>
            <a:custGeom>
              <a:avLst/>
              <a:gdLst/>
              <a:ahLst/>
              <a:cxnLst/>
              <a:rect r="r" b="b" t="t" l="l"/>
              <a:pathLst>
                <a:path h="545281" w="961318">
                  <a:moveTo>
                    <a:pt x="39533" y="0"/>
                  </a:moveTo>
                  <a:lnTo>
                    <a:pt x="921786" y="0"/>
                  </a:lnTo>
                  <a:cubicBezTo>
                    <a:pt x="932270" y="0"/>
                    <a:pt x="942326" y="4165"/>
                    <a:pt x="949739" y="11579"/>
                  </a:cubicBezTo>
                  <a:cubicBezTo>
                    <a:pt x="957153" y="18993"/>
                    <a:pt x="961318" y="29048"/>
                    <a:pt x="961318" y="39533"/>
                  </a:cubicBezTo>
                  <a:lnTo>
                    <a:pt x="961318" y="505749"/>
                  </a:lnTo>
                  <a:cubicBezTo>
                    <a:pt x="961318" y="516234"/>
                    <a:pt x="957153" y="526289"/>
                    <a:pt x="949739" y="533703"/>
                  </a:cubicBezTo>
                  <a:cubicBezTo>
                    <a:pt x="942326" y="541116"/>
                    <a:pt x="932270" y="545281"/>
                    <a:pt x="921786" y="545281"/>
                  </a:cubicBezTo>
                  <a:lnTo>
                    <a:pt x="39533" y="545281"/>
                  </a:lnTo>
                  <a:cubicBezTo>
                    <a:pt x="29048" y="545281"/>
                    <a:pt x="18993" y="541116"/>
                    <a:pt x="11579" y="533703"/>
                  </a:cubicBezTo>
                  <a:cubicBezTo>
                    <a:pt x="4165" y="526289"/>
                    <a:pt x="0" y="516234"/>
                    <a:pt x="0" y="505749"/>
                  </a:cubicBezTo>
                  <a:lnTo>
                    <a:pt x="0" y="39533"/>
                  </a:lnTo>
                  <a:cubicBezTo>
                    <a:pt x="0" y="29048"/>
                    <a:pt x="4165" y="18993"/>
                    <a:pt x="11579" y="11579"/>
                  </a:cubicBezTo>
                  <a:cubicBezTo>
                    <a:pt x="18993" y="4165"/>
                    <a:pt x="29048" y="0"/>
                    <a:pt x="39533" y="0"/>
                  </a:cubicBezTo>
                  <a:close/>
                </a:path>
              </a:pathLst>
            </a:custGeom>
            <a:solidFill>
              <a:srgbClr val="000000">
                <a:alpha val="0"/>
              </a:srgbClr>
            </a:solidFill>
            <a:ln w="28575" cap="rnd">
              <a:solidFill>
                <a:srgbClr val="FFFFFF"/>
              </a:solidFill>
              <a:prstDash val="solid"/>
              <a:round/>
            </a:ln>
          </p:spPr>
        </p:sp>
        <p:sp>
          <p:nvSpPr>
            <p:cNvPr name="TextBox 20" id="20"/>
            <p:cNvSpPr txBox="true"/>
            <p:nvPr/>
          </p:nvSpPr>
          <p:spPr>
            <a:xfrm>
              <a:off x="0" y="-66675"/>
              <a:ext cx="961318" cy="611956"/>
            </a:xfrm>
            <a:prstGeom prst="rect">
              <a:avLst/>
            </a:prstGeom>
          </p:spPr>
          <p:txBody>
            <a:bodyPr anchor="ctr" rtlCol="false" tIns="50800" lIns="50800" bIns="50800" rIns="50800"/>
            <a:lstStyle/>
            <a:p>
              <a:pPr algn="just">
                <a:lnSpc>
                  <a:spcPts val="2659"/>
                </a:lnSpc>
              </a:pPr>
              <a:r>
                <a:rPr lang="en-US" sz="1899">
                  <a:solidFill>
                    <a:srgbClr val="000000"/>
                  </a:solidFill>
                  <a:latin typeface="Codec Pro"/>
                  <a:ea typeface="Codec Pro"/>
                  <a:cs typeface="Codec Pro"/>
                  <a:sym typeface="Codec Pro"/>
                </a:rPr>
                <a:t>Nature-based spots (Ponmudi, Varkala) are in less developed landscapes (forests, wetlands).Proximity to urban growth threatens natural locations, requiring</a:t>
              </a:r>
            </a:p>
            <a:p>
              <a:pPr algn="just">
                <a:lnSpc>
                  <a:spcPts val="2659"/>
                </a:lnSpc>
              </a:pPr>
              <a:r>
                <a:rPr lang="en-US" sz="1899">
                  <a:solidFill>
                    <a:srgbClr val="000000"/>
                  </a:solidFill>
                  <a:latin typeface="Codec Pro"/>
                  <a:ea typeface="Codec Pro"/>
                  <a:cs typeface="Codec Pro"/>
                  <a:sym typeface="Codec Pro"/>
                </a:rPr>
                <a:t>proper planning for sustainable infrastructure and environmental protection.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6190986" y="-4196559"/>
            <a:ext cx="9794630" cy="6678157"/>
          </a:xfrm>
          <a:custGeom>
            <a:avLst/>
            <a:gdLst/>
            <a:ahLst/>
            <a:cxnLst/>
            <a:rect r="r" b="b" t="t" l="l"/>
            <a:pathLst>
              <a:path h="6678157" w="9794630">
                <a:moveTo>
                  <a:pt x="0" y="0"/>
                </a:moveTo>
                <a:lnTo>
                  <a:pt x="9794630" y="0"/>
                </a:lnTo>
                <a:lnTo>
                  <a:pt x="9794630" y="6678157"/>
                </a:lnTo>
                <a:lnTo>
                  <a:pt x="0" y="6678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78839" y="944255"/>
            <a:ext cx="7825724" cy="7976554"/>
          </a:xfrm>
          <a:custGeom>
            <a:avLst/>
            <a:gdLst/>
            <a:ahLst/>
            <a:cxnLst/>
            <a:rect r="r" b="b" t="t" l="l"/>
            <a:pathLst>
              <a:path h="7976554" w="7825724">
                <a:moveTo>
                  <a:pt x="0" y="0"/>
                </a:moveTo>
                <a:lnTo>
                  <a:pt x="7825724" y="0"/>
                </a:lnTo>
                <a:lnTo>
                  <a:pt x="7825724" y="7976554"/>
                </a:lnTo>
                <a:lnTo>
                  <a:pt x="0" y="7976554"/>
                </a:lnTo>
                <a:lnTo>
                  <a:pt x="0" y="0"/>
                </a:lnTo>
                <a:close/>
              </a:path>
            </a:pathLst>
          </a:custGeom>
          <a:blipFill>
            <a:blip r:embed="rId4"/>
            <a:stretch>
              <a:fillRect l="0" t="-18128" r="0" b="-20787"/>
            </a:stretch>
          </a:blipFill>
        </p:spPr>
      </p:sp>
      <p:sp>
        <p:nvSpPr>
          <p:cNvPr name="TextBox 4" id="4"/>
          <p:cNvSpPr txBox="true"/>
          <p:nvPr/>
        </p:nvSpPr>
        <p:spPr>
          <a:xfrm rot="0">
            <a:off x="1028700" y="3803997"/>
            <a:ext cx="8115300" cy="5455746"/>
          </a:xfrm>
          <a:prstGeom prst="rect">
            <a:avLst/>
          </a:prstGeom>
        </p:spPr>
        <p:txBody>
          <a:bodyPr anchor="t" rtlCol="false" tIns="0" lIns="0" bIns="0" rIns="0">
            <a:spAutoFit/>
          </a:bodyPr>
          <a:lstStyle/>
          <a:p>
            <a:pPr algn="just">
              <a:lnSpc>
                <a:spcPts val="3369"/>
              </a:lnSpc>
            </a:pPr>
            <a:r>
              <a:rPr lang="en-US" sz="2552">
                <a:solidFill>
                  <a:srgbClr val="FFFFFF"/>
                </a:solidFill>
                <a:latin typeface="Codec Pro"/>
                <a:ea typeface="Codec Pro"/>
                <a:cs typeface="Codec Pro"/>
                <a:sym typeface="Codec Pro"/>
              </a:rPr>
              <a:t>The descriptive analysis of Points of Interest (POIs) in Thiruvananthapuram examines the spatial distribution of key tourist resources such as temples, beaches, hill stations, wildlife areas, hotels, and restaurants. </a:t>
            </a:r>
          </a:p>
          <a:p>
            <a:pPr algn="just">
              <a:lnSpc>
                <a:spcPts val="3369"/>
              </a:lnSpc>
            </a:pPr>
          </a:p>
          <a:p>
            <a:pPr algn="just">
              <a:lnSpc>
                <a:spcPts val="3369"/>
              </a:lnSpc>
            </a:pPr>
            <a:r>
              <a:rPr lang="en-US" sz="2552">
                <a:solidFill>
                  <a:srgbClr val="FFFFFF"/>
                </a:solidFill>
                <a:latin typeface="Codec Pro"/>
                <a:ea typeface="Codec Pro"/>
                <a:cs typeface="Codec Pro"/>
                <a:sym typeface="Codec Pro"/>
              </a:rPr>
              <a:t>By analyzing the mean, standard deviation, and patterns of these POIs, we can identify areas with high tourist concentration, clusters of amenities, and gaps in infrastructure. This analysis helps in understanding tourism density, planning for visitor services, and prioritizing zones for sustainable tourism development.”</a:t>
            </a:r>
          </a:p>
        </p:txBody>
      </p:sp>
      <p:sp>
        <p:nvSpPr>
          <p:cNvPr name="TextBox 5" id="5"/>
          <p:cNvSpPr txBox="true"/>
          <p:nvPr/>
        </p:nvSpPr>
        <p:spPr>
          <a:xfrm rot="0">
            <a:off x="1028700" y="1066800"/>
            <a:ext cx="6534854" cy="2152418"/>
          </a:xfrm>
          <a:prstGeom prst="rect">
            <a:avLst/>
          </a:prstGeom>
        </p:spPr>
        <p:txBody>
          <a:bodyPr anchor="t" rtlCol="false" tIns="0" lIns="0" bIns="0" rIns="0">
            <a:spAutoFit/>
          </a:bodyPr>
          <a:lstStyle/>
          <a:p>
            <a:pPr algn="l">
              <a:lnSpc>
                <a:spcPts val="7802"/>
              </a:lnSpc>
            </a:pPr>
            <a:r>
              <a:rPr lang="en-US" b="true" sz="7962" spc="-398">
                <a:solidFill>
                  <a:srgbClr val="FFFFFF"/>
                </a:solidFill>
                <a:latin typeface="Codec Pro Ultra-Bold"/>
                <a:ea typeface="Codec Pro Ultra-Bold"/>
                <a:cs typeface="Codec Pro Ultra-Bold"/>
                <a:sym typeface="Codec Pro Ultra-Bold"/>
              </a:rPr>
              <a:t>Descriptive Analysis of POI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31F20"/>
        </a:solidFill>
      </p:bgPr>
    </p:bg>
    <p:spTree>
      <p:nvGrpSpPr>
        <p:cNvPr id="1" name=""/>
        <p:cNvGrpSpPr/>
        <p:nvPr/>
      </p:nvGrpSpPr>
      <p:grpSpPr>
        <a:xfrm>
          <a:off x="0" y="0"/>
          <a:ext cx="0" cy="0"/>
          <a:chOff x="0" y="0"/>
          <a:chExt cx="0" cy="0"/>
        </a:xfrm>
      </p:grpSpPr>
      <p:sp>
        <p:nvSpPr>
          <p:cNvPr name="Freeform 2" id="2"/>
          <p:cNvSpPr/>
          <p:nvPr/>
        </p:nvSpPr>
        <p:spPr>
          <a:xfrm flipH="false" flipV="false" rot="0">
            <a:off x="6190986" y="-4196559"/>
            <a:ext cx="9794630" cy="6678157"/>
          </a:xfrm>
          <a:custGeom>
            <a:avLst/>
            <a:gdLst/>
            <a:ahLst/>
            <a:cxnLst/>
            <a:rect r="r" b="b" t="t" l="l"/>
            <a:pathLst>
              <a:path h="6678157" w="9794630">
                <a:moveTo>
                  <a:pt x="0" y="0"/>
                </a:moveTo>
                <a:lnTo>
                  <a:pt x="9794630" y="0"/>
                </a:lnTo>
                <a:lnTo>
                  <a:pt x="9794630" y="6678157"/>
                </a:lnTo>
                <a:lnTo>
                  <a:pt x="0" y="6678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99566" y="903166"/>
            <a:ext cx="8184744" cy="8480668"/>
          </a:xfrm>
          <a:custGeom>
            <a:avLst/>
            <a:gdLst/>
            <a:ahLst/>
            <a:cxnLst/>
            <a:rect r="r" b="b" t="t" l="l"/>
            <a:pathLst>
              <a:path h="8480668" w="8184744">
                <a:moveTo>
                  <a:pt x="0" y="0"/>
                </a:moveTo>
                <a:lnTo>
                  <a:pt x="8184744" y="0"/>
                </a:lnTo>
                <a:lnTo>
                  <a:pt x="8184744" y="8480668"/>
                </a:lnTo>
                <a:lnTo>
                  <a:pt x="0" y="8480668"/>
                </a:lnTo>
                <a:lnTo>
                  <a:pt x="0" y="0"/>
                </a:lnTo>
                <a:close/>
              </a:path>
            </a:pathLst>
          </a:custGeom>
          <a:blipFill>
            <a:blip r:embed="rId4"/>
            <a:stretch>
              <a:fillRect l="-3363" t="-22388" r="-4716" b="-25305"/>
            </a:stretch>
          </a:blipFill>
        </p:spPr>
      </p:sp>
      <p:sp>
        <p:nvSpPr>
          <p:cNvPr name="TextBox 4" id="4"/>
          <p:cNvSpPr txBox="true"/>
          <p:nvPr/>
        </p:nvSpPr>
        <p:spPr>
          <a:xfrm rot="0">
            <a:off x="1028700" y="3813522"/>
            <a:ext cx="8115300" cy="1703070"/>
          </a:xfrm>
          <a:prstGeom prst="rect">
            <a:avLst/>
          </a:prstGeom>
        </p:spPr>
        <p:txBody>
          <a:bodyPr anchor="t" rtlCol="false" tIns="0" lIns="0" bIns="0" rIns="0">
            <a:spAutoFit/>
          </a:bodyPr>
          <a:lstStyle/>
          <a:p>
            <a:pPr algn="just">
              <a:lnSpc>
                <a:spcPts val="2640"/>
              </a:lnSpc>
            </a:pPr>
            <a:r>
              <a:rPr lang="en-US" sz="2000">
                <a:solidFill>
                  <a:srgbClr val="FFFFFF"/>
                </a:solidFill>
                <a:latin typeface="Codec Pro"/>
                <a:ea typeface="Codec Pro"/>
                <a:cs typeface="Codec Pro"/>
                <a:sym typeface="Codec Pro"/>
              </a:rPr>
              <a:t>The buffer analysis around the tourist attractions identies the availability and concentration of the hotels and restaurants, determing visitor convince.</a:t>
            </a:r>
          </a:p>
          <a:p>
            <a:pPr algn="just">
              <a:lnSpc>
                <a:spcPts val="2640"/>
              </a:lnSpc>
            </a:pPr>
          </a:p>
          <a:p>
            <a:pPr algn="just">
              <a:lnSpc>
                <a:spcPts val="2640"/>
              </a:lnSpc>
            </a:pPr>
          </a:p>
        </p:txBody>
      </p:sp>
      <p:sp>
        <p:nvSpPr>
          <p:cNvPr name="TextBox 5" id="5"/>
          <p:cNvSpPr txBox="true"/>
          <p:nvPr/>
        </p:nvSpPr>
        <p:spPr>
          <a:xfrm rot="0">
            <a:off x="1028700" y="982355"/>
            <a:ext cx="6944401" cy="2685319"/>
          </a:xfrm>
          <a:prstGeom prst="rect">
            <a:avLst/>
          </a:prstGeom>
        </p:spPr>
        <p:txBody>
          <a:bodyPr anchor="t" rtlCol="false" tIns="0" lIns="0" bIns="0" rIns="0">
            <a:spAutoFit/>
          </a:bodyPr>
          <a:lstStyle/>
          <a:p>
            <a:pPr algn="l">
              <a:lnSpc>
                <a:spcPts val="6677"/>
              </a:lnSpc>
            </a:pPr>
            <a:r>
              <a:rPr lang="en-US" sz="6813" spc="-340" b="true">
                <a:solidFill>
                  <a:srgbClr val="FFFFFF"/>
                </a:solidFill>
                <a:latin typeface="Codec Pro Bold"/>
                <a:ea typeface="Codec Pro Bold"/>
                <a:cs typeface="Codec Pro Bold"/>
                <a:sym typeface="Codec Pro Bold"/>
              </a:rPr>
              <a:t>Buffer Analysis (Service Availability)</a:t>
            </a:r>
          </a:p>
        </p:txBody>
      </p:sp>
      <p:sp>
        <p:nvSpPr>
          <p:cNvPr name="TextBox 6" id="6"/>
          <p:cNvSpPr txBox="true"/>
          <p:nvPr/>
        </p:nvSpPr>
        <p:spPr>
          <a:xfrm rot="0">
            <a:off x="1028700" y="5076825"/>
            <a:ext cx="8115300" cy="4370070"/>
          </a:xfrm>
          <a:prstGeom prst="rect">
            <a:avLst/>
          </a:prstGeom>
        </p:spPr>
        <p:txBody>
          <a:bodyPr anchor="t" rtlCol="false" tIns="0" lIns="0" bIns="0" rIns="0">
            <a:spAutoFit/>
          </a:bodyPr>
          <a:lstStyle/>
          <a:p>
            <a:pPr algn="just">
              <a:lnSpc>
                <a:spcPts val="2640"/>
              </a:lnSpc>
            </a:pPr>
          </a:p>
          <a:p>
            <a:pPr algn="just">
              <a:lnSpc>
                <a:spcPts val="2640"/>
              </a:lnSpc>
            </a:pPr>
          </a:p>
          <a:p>
            <a:pPr algn="just">
              <a:lnSpc>
                <a:spcPts val="2640"/>
              </a:lnSpc>
            </a:pPr>
            <a:r>
              <a:rPr lang="en-US" sz="2000">
                <a:solidFill>
                  <a:srgbClr val="FFFFFF"/>
                </a:solidFill>
                <a:latin typeface="Codec Pro"/>
                <a:ea typeface="Codec Pro"/>
                <a:cs typeface="Codec Pro"/>
                <a:sym typeface="Codec Pro"/>
              </a:rPr>
              <a:t>Includes Padmanabhaswamy Temple, Napier Museum, Kovalam, and Varkala areas where hotel and restaurant density is high, indicating strong tourist infrastructures.</a:t>
            </a:r>
          </a:p>
          <a:p>
            <a:pPr algn="just">
              <a:lnSpc>
                <a:spcPts val="2640"/>
              </a:lnSpc>
            </a:pPr>
          </a:p>
          <a:p>
            <a:pPr algn="just">
              <a:lnSpc>
                <a:spcPts val="2640"/>
              </a:lnSpc>
            </a:pPr>
          </a:p>
          <a:p>
            <a:pPr algn="just">
              <a:lnSpc>
                <a:spcPts val="2640"/>
              </a:lnSpc>
            </a:pPr>
            <a:r>
              <a:rPr lang="en-US" sz="2000">
                <a:solidFill>
                  <a:srgbClr val="FFFFFF"/>
                </a:solidFill>
                <a:latin typeface="Codec Pro"/>
                <a:ea typeface="Codec Pro"/>
                <a:cs typeface="Codec Pro"/>
                <a:sym typeface="Codec Pro"/>
              </a:rPr>
              <a:t>Covers Veli, Shankumugham, and nearby regions with a fair number of facilities and moderate accessibility for tourists.</a:t>
            </a:r>
          </a:p>
          <a:p>
            <a:pPr algn="just">
              <a:lnSpc>
                <a:spcPts val="2640"/>
              </a:lnSpc>
            </a:pPr>
          </a:p>
          <a:p>
            <a:pPr algn="just">
              <a:lnSpc>
                <a:spcPts val="2640"/>
              </a:lnSpc>
            </a:pPr>
          </a:p>
          <a:p>
            <a:pPr algn="just">
              <a:lnSpc>
                <a:spcPts val="2640"/>
              </a:lnSpc>
            </a:pPr>
            <a:r>
              <a:rPr lang="en-US" sz="2000">
                <a:solidFill>
                  <a:srgbClr val="FFFFFF"/>
                </a:solidFill>
                <a:latin typeface="Codec Pro"/>
                <a:ea typeface="Codec Pro"/>
                <a:cs typeface="Codec Pro"/>
                <a:sym typeface="Codec Pro"/>
              </a:rPr>
              <a:t>Comprises Neyyar Dam, Nipunmudi Hills, and adjoining hilly areas with limited hotel services and low tourism development.</a:t>
            </a:r>
          </a:p>
        </p:txBody>
      </p:sp>
      <p:sp>
        <p:nvSpPr>
          <p:cNvPr name="TextBox 7" id="7"/>
          <p:cNvSpPr txBox="true"/>
          <p:nvPr/>
        </p:nvSpPr>
        <p:spPr>
          <a:xfrm rot="0">
            <a:off x="1028700" y="5053861"/>
            <a:ext cx="3057350" cy="462731"/>
          </a:xfrm>
          <a:prstGeom prst="rect">
            <a:avLst/>
          </a:prstGeom>
        </p:spPr>
        <p:txBody>
          <a:bodyPr anchor="t" rtlCol="false" tIns="0" lIns="0" bIns="0" rIns="0">
            <a:spAutoFit/>
          </a:bodyPr>
          <a:lstStyle/>
          <a:p>
            <a:pPr algn="ctr">
              <a:lnSpc>
                <a:spcPts val="3728"/>
              </a:lnSpc>
            </a:pPr>
            <a:r>
              <a:rPr lang="en-US" sz="2663" b="true">
                <a:solidFill>
                  <a:srgbClr val="FFFFFF"/>
                </a:solidFill>
                <a:latin typeface="Canva Sans Bold"/>
                <a:ea typeface="Canva Sans Bold"/>
                <a:cs typeface="Canva Sans Bold"/>
                <a:sym typeface="Canva Sans Bold"/>
              </a:rPr>
              <a:t>High Service Zone </a:t>
            </a:r>
          </a:p>
        </p:txBody>
      </p:sp>
      <p:sp>
        <p:nvSpPr>
          <p:cNvPr name="TextBox 8" id="8"/>
          <p:cNvSpPr txBox="true"/>
          <p:nvPr/>
        </p:nvSpPr>
        <p:spPr>
          <a:xfrm rot="0">
            <a:off x="1028700" y="6907242"/>
            <a:ext cx="3896510" cy="462731"/>
          </a:xfrm>
          <a:prstGeom prst="rect">
            <a:avLst/>
          </a:prstGeom>
        </p:spPr>
        <p:txBody>
          <a:bodyPr anchor="t" rtlCol="false" tIns="0" lIns="0" bIns="0" rIns="0">
            <a:spAutoFit/>
          </a:bodyPr>
          <a:lstStyle/>
          <a:p>
            <a:pPr algn="ctr">
              <a:lnSpc>
                <a:spcPts val="3728"/>
              </a:lnSpc>
            </a:pPr>
            <a:r>
              <a:rPr lang="en-US" sz="2663" b="true">
                <a:solidFill>
                  <a:srgbClr val="FFFFFF"/>
                </a:solidFill>
                <a:latin typeface="Canva Sans Bold"/>
                <a:ea typeface="Canva Sans Bold"/>
                <a:cs typeface="Canva Sans Bold"/>
                <a:sym typeface="Canva Sans Bold"/>
              </a:rPr>
              <a:t>Moderate Service Zone </a:t>
            </a:r>
          </a:p>
        </p:txBody>
      </p:sp>
      <p:sp>
        <p:nvSpPr>
          <p:cNvPr name="TextBox 9" id="9"/>
          <p:cNvSpPr txBox="true"/>
          <p:nvPr/>
        </p:nvSpPr>
        <p:spPr>
          <a:xfrm rot="0">
            <a:off x="1123640" y="8189351"/>
            <a:ext cx="2962410" cy="462731"/>
          </a:xfrm>
          <a:prstGeom prst="rect">
            <a:avLst/>
          </a:prstGeom>
        </p:spPr>
        <p:txBody>
          <a:bodyPr anchor="t" rtlCol="false" tIns="0" lIns="0" bIns="0" rIns="0">
            <a:spAutoFit/>
          </a:bodyPr>
          <a:lstStyle/>
          <a:p>
            <a:pPr algn="ctr">
              <a:lnSpc>
                <a:spcPts val="3728"/>
              </a:lnSpc>
            </a:pPr>
            <a:r>
              <a:rPr lang="en-US" sz="2663" b="true">
                <a:solidFill>
                  <a:srgbClr val="FFFFFF"/>
                </a:solidFill>
                <a:latin typeface="Canva Sans Bold"/>
                <a:ea typeface="Canva Sans Bold"/>
                <a:cs typeface="Canva Sans Bold"/>
                <a:sym typeface="Canva Sans Bold"/>
              </a:rPr>
              <a:t>Low Service Zone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40228" y="5466252"/>
            <a:ext cx="7303772" cy="2836794"/>
            <a:chOff x="0" y="0"/>
            <a:chExt cx="1923627" cy="747139"/>
          </a:xfrm>
        </p:grpSpPr>
        <p:sp>
          <p:nvSpPr>
            <p:cNvPr name="Freeform 3" id="3"/>
            <p:cNvSpPr/>
            <p:nvPr/>
          </p:nvSpPr>
          <p:spPr>
            <a:xfrm flipH="false" flipV="false" rot="0">
              <a:off x="0" y="0"/>
              <a:ext cx="1923627" cy="747139"/>
            </a:xfrm>
            <a:custGeom>
              <a:avLst/>
              <a:gdLst/>
              <a:ahLst/>
              <a:cxnLst/>
              <a:rect r="r" b="b" t="t" l="l"/>
              <a:pathLst>
                <a:path h="747139" w="1923627">
                  <a:moveTo>
                    <a:pt x="32860" y="0"/>
                  </a:moveTo>
                  <a:lnTo>
                    <a:pt x="1890768" y="0"/>
                  </a:lnTo>
                  <a:cubicBezTo>
                    <a:pt x="1908916" y="0"/>
                    <a:pt x="1923627" y="14712"/>
                    <a:pt x="1923627" y="32860"/>
                  </a:cubicBezTo>
                  <a:lnTo>
                    <a:pt x="1923627" y="714280"/>
                  </a:lnTo>
                  <a:cubicBezTo>
                    <a:pt x="1923627" y="732427"/>
                    <a:pt x="1908916" y="747139"/>
                    <a:pt x="1890768" y="747139"/>
                  </a:cubicBezTo>
                  <a:lnTo>
                    <a:pt x="32860" y="747139"/>
                  </a:lnTo>
                  <a:cubicBezTo>
                    <a:pt x="24145" y="747139"/>
                    <a:pt x="15787" y="743677"/>
                    <a:pt x="9624" y="737515"/>
                  </a:cubicBezTo>
                  <a:cubicBezTo>
                    <a:pt x="3462" y="731353"/>
                    <a:pt x="0" y="722995"/>
                    <a:pt x="0" y="714280"/>
                  </a:cubicBezTo>
                  <a:lnTo>
                    <a:pt x="0" y="32860"/>
                  </a:lnTo>
                  <a:cubicBezTo>
                    <a:pt x="0" y="14712"/>
                    <a:pt x="14712" y="0"/>
                    <a:pt x="32860" y="0"/>
                  </a:cubicBezTo>
                  <a:close/>
                </a:path>
              </a:pathLst>
            </a:custGeom>
            <a:solidFill>
              <a:srgbClr val="FFFFFF">
                <a:alpha val="19608"/>
              </a:srgbClr>
            </a:solidFill>
          </p:spPr>
        </p:sp>
        <p:sp>
          <p:nvSpPr>
            <p:cNvPr name="TextBox 4" id="4"/>
            <p:cNvSpPr txBox="true"/>
            <p:nvPr/>
          </p:nvSpPr>
          <p:spPr>
            <a:xfrm>
              <a:off x="0" y="-85725"/>
              <a:ext cx="1923627" cy="832864"/>
            </a:xfrm>
            <a:prstGeom prst="rect">
              <a:avLst/>
            </a:prstGeom>
          </p:spPr>
          <p:txBody>
            <a:bodyPr anchor="ctr" rtlCol="false" tIns="50800" lIns="50800" bIns="50800" rIns="50800"/>
            <a:lstStyle/>
            <a:p>
              <a:pPr algn="ctr">
                <a:lnSpc>
                  <a:spcPts val="3151"/>
                </a:lnSpc>
              </a:pPr>
            </a:p>
          </p:txBody>
        </p:sp>
      </p:grpSp>
      <p:sp>
        <p:nvSpPr>
          <p:cNvPr name="Freeform 5" id="5"/>
          <p:cNvSpPr/>
          <p:nvPr/>
        </p:nvSpPr>
        <p:spPr>
          <a:xfrm flipH="false" flipV="false" rot="0">
            <a:off x="9144000" y="3158640"/>
            <a:ext cx="7002813" cy="7274347"/>
          </a:xfrm>
          <a:custGeom>
            <a:avLst/>
            <a:gdLst/>
            <a:ahLst/>
            <a:cxnLst/>
            <a:rect r="r" b="b" t="t" l="l"/>
            <a:pathLst>
              <a:path h="7274347" w="7002813">
                <a:moveTo>
                  <a:pt x="0" y="0"/>
                </a:moveTo>
                <a:lnTo>
                  <a:pt x="7002813" y="0"/>
                </a:lnTo>
                <a:lnTo>
                  <a:pt x="7002813" y="7274346"/>
                </a:lnTo>
                <a:lnTo>
                  <a:pt x="0" y="7274346"/>
                </a:lnTo>
                <a:lnTo>
                  <a:pt x="0" y="0"/>
                </a:lnTo>
                <a:close/>
              </a:path>
            </a:pathLst>
          </a:custGeom>
          <a:blipFill>
            <a:blip r:embed="rId2"/>
            <a:stretch>
              <a:fillRect l="0" t="-18636" r="0" b="-17670"/>
            </a:stretch>
          </a:blipFill>
        </p:spPr>
      </p:sp>
      <p:sp>
        <p:nvSpPr>
          <p:cNvPr name="Freeform 6" id="6"/>
          <p:cNvSpPr/>
          <p:nvPr/>
        </p:nvSpPr>
        <p:spPr>
          <a:xfrm flipH="false" flipV="false" rot="0">
            <a:off x="3947193" y="10287000"/>
            <a:ext cx="3089841" cy="4114800"/>
          </a:xfrm>
          <a:custGeom>
            <a:avLst/>
            <a:gdLst/>
            <a:ahLst/>
            <a:cxnLst/>
            <a:rect r="r" b="b" t="t" l="l"/>
            <a:pathLst>
              <a:path h="4114800" w="3089841">
                <a:moveTo>
                  <a:pt x="0" y="0"/>
                </a:moveTo>
                <a:lnTo>
                  <a:pt x="3089841" y="0"/>
                </a:lnTo>
                <a:lnTo>
                  <a:pt x="308984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438297" y="7430682"/>
            <a:ext cx="14413572" cy="9827435"/>
          </a:xfrm>
          <a:custGeom>
            <a:avLst/>
            <a:gdLst/>
            <a:ahLst/>
            <a:cxnLst/>
            <a:rect r="r" b="b" t="t" l="l"/>
            <a:pathLst>
              <a:path h="9827435" w="14413572">
                <a:moveTo>
                  <a:pt x="0" y="0"/>
                </a:moveTo>
                <a:lnTo>
                  <a:pt x="14413572" y="0"/>
                </a:lnTo>
                <a:lnTo>
                  <a:pt x="14413572" y="9827436"/>
                </a:lnTo>
                <a:lnTo>
                  <a:pt x="0" y="98274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176082" y="494278"/>
            <a:ext cx="9032015" cy="1650479"/>
          </a:xfrm>
          <a:prstGeom prst="rect">
            <a:avLst/>
          </a:prstGeom>
        </p:spPr>
        <p:txBody>
          <a:bodyPr anchor="t" rtlCol="false" tIns="0" lIns="0" bIns="0" rIns="0">
            <a:spAutoFit/>
          </a:bodyPr>
          <a:lstStyle/>
          <a:p>
            <a:pPr algn="l">
              <a:lnSpc>
                <a:spcPts val="5981"/>
              </a:lnSpc>
            </a:pPr>
            <a:r>
              <a:rPr lang="en-US" sz="6103" spc="-305" b="true">
                <a:solidFill>
                  <a:srgbClr val="000000"/>
                </a:solidFill>
                <a:latin typeface="Codec Pro Ultra-Bold"/>
                <a:ea typeface="Codec Pro Ultra-Bold"/>
                <a:cs typeface="Codec Pro Ultra-Bold"/>
                <a:sym typeface="Codec Pro Ultra-Bold"/>
              </a:rPr>
              <a:t>Hotspot and Accessibility Analysis </a:t>
            </a:r>
          </a:p>
        </p:txBody>
      </p:sp>
      <p:sp>
        <p:nvSpPr>
          <p:cNvPr name="TextBox 9" id="9"/>
          <p:cNvSpPr txBox="true"/>
          <p:nvPr/>
        </p:nvSpPr>
        <p:spPr>
          <a:xfrm rot="0">
            <a:off x="11408122" y="809483"/>
            <a:ext cx="1907082" cy="428591"/>
          </a:xfrm>
          <a:prstGeom prst="rect">
            <a:avLst/>
          </a:prstGeom>
        </p:spPr>
        <p:txBody>
          <a:bodyPr anchor="t" rtlCol="false" tIns="0" lIns="0" bIns="0" rIns="0">
            <a:spAutoFit/>
          </a:bodyPr>
          <a:lstStyle/>
          <a:p>
            <a:pPr algn="ctr" marL="0" indent="0" lvl="0">
              <a:lnSpc>
                <a:spcPts val="3151"/>
              </a:lnSpc>
              <a:spcBef>
                <a:spcPct val="0"/>
              </a:spcBef>
            </a:pPr>
            <a:r>
              <a:rPr lang="en-US" sz="2251">
                <a:solidFill>
                  <a:srgbClr val="FFFFFF"/>
                </a:solidFill>
                <a:latin typeface="Codec Pro"/>
                <a:ea typeface="Codec Pro"/>
                <a:cs typeface="Codec Pro"/>
                <a:sym typeface="Codec Pro"/>
              </a:rPr>
              <a:t>About</a:t>
            </a:r>
          </a:p>
        </p:txBody>
      </p:sp>
      <p:sp>
        <p:nvSpPr>
          <p:cNvPr name="TextBox 10" id="10"/>
          <p:cNvSpPr txBox="true"/>
          <p:nvPr/>
        </p:nvSpPr>
        <p:spPr>
          <a:xfrm rot="0">
            <a:off x="13726729" y="785304"/>
            <a:ext cx="1916881" cy="428591"/>
          </a:xfrm>
          <a:prstGeom prst="rect">
            <a:avLst/>
          </a:prstGeom>
        </p:spPr>
        <p:txBody>
          <a:bodyPr anchor="t" rtlCol="false" tIns="0" lIns="0" bIns="0" rIns="0">
            <a:spAutoFit/>
          </a:bodyPr>
          <a:lstStyle/>
          <a:p>
            <a:pPr algn="ctr" marL="0" indent="0" lvl="0">
              <a:lnSpc>
                <a:spcPts val="3151"/>
              </a:lnSpc>
              <a:spcBef>
                <a:spcPct val="0"/>
              </a:spcBef>
            </a:pPr>
            <a:r>
              <a:rPr lang="en-US" b="true" sz="2251">
                <a:solidFill>
                  <a:srgbClr val="FFFFFF"/>
                </a:solidFill>
                <a:latin typeface="Codec Pro Ultra-Bold"/>
                <a:ea typeface="Codec Pro Ultra-Bold"/>
                <a:cs typeface="Codec Pro Ultra-Bold"/>
                <a:sym typeface="Codec Pro Ultra-Bold"/>
              </a:rPr>
              <a:t>Content</a:t>
            </a:r>
          </a:p>
        </p:txBody>
      </p:sp>
      <p:sp>
        <p:nvSpPr>
          <p:cNvPr name="TextBox 11" id="11"/>
          <p:cNvSpPr txBox="true"/>
          <p:nvPr/>
        </p:nvSpPr>
        <p:spPr>
          <a:xfrm rot="0">
            <a:off x="15034325" y="807270"/>
            <a:ext cx="2224975" cy="428591"/>
          </a:xfrm>
          <a:prstGeom prst="rect">
            <a:avLst/>
          </a:prstGeom>
        </p:spPr>
        <p:txBody>
          <a:bodyPr anchor="t" rtlCol="false" tIns="0" lIns="0" bIns="0" rIns="0">
            <a:spAutoFit/>
          </a:bodyPr>
          <a:lstStyle/>
          <a:p>
            <a:pPr algn="r" marL="0" indent="0" lvl="0">
              <a:lnSpc>
                <a:spcPts val="3151"/>
              </a:lnSpc>
              <a:spcBef>
                <a:spcPct val="0"/>
              </a:spcBef>
            </a:pPr>
            <a:r>
              <a:rPr lang="en-US" sz="2251">
                <a:solidFill>
                  <a:srgbClr val="FFFFFF"/>
                </a:solidFill>
                <a:latin typeface="Codec Pro"/>
                <a:ea typeface="Codec Pro"/>
                <a:cs typeface="Codec Pro"/>
                <a:sym typeface="Codec Pro"/>
              </a:rPr>
              <a:t>Others</a:t>
            </a:r>
          </a:p>
        </p:txBody>
      </p:sp>
      <p:sp>
        <p:nvSpPr>
          <p:cNvPr name="TextBox 12" id="12"/>
          <p:cNvSpPr txBox="true"/>
          <p:nvPr/>
        </p:nvSpPr>
        <p:spPr>
          <a:xfrm rot="0">
            <a:off x="2242542" y="2220957"/>
            <a:ext cx="4794492" cy="937683"/>
          </a:xfrm>
          <a:prstGeom prst="rect">
            <a:avLst/>
          </a:prstGeom>
        </p:spPr>
        <p:txBody>
          <a:bodyPr anchor="t" rtlCol="false" tIns="0" lIns="0" bIns="0" rIns="0">
            <a:spAutoFit/>
          </a:bodyPr>
          <a:lstStyle/>
          <a:p>
            <a:pPr algn="l">
              <a:lnSpc>
                <a:spcPts val="3365"/>
              </a:lnSpc>
            </a:pPr>
            <a:r>
              <a:rPr lang="en-US" sz="3434" spc="-171" b="true">
                <a:solidFill>
                  <a:srgbClr val="000000"/>
                </a:solidFill>
                <a:latin typeface="Codec Pro Bold"/>
                <a:ea typeface="Codec Pro Bold"/>
                <a:cs typeface="Codec Pro Bold"/>
                <a:sym typeface="Codec Pro Bold"/>
              </a:rPr>
              <a:t>Kernel density: Identifying the Hotspots</a:t>
            </a:r>
          </a:p>
        </p:txBody>
      </p:sp>
      <p:sp>
        <p:nvSpPr>
          <p:cNvPr name="Freeform 13" id="13"/>
          <p:cNvSpPr/>
          <p:nvPr/>
        </p:nvSpPr>
        <p:spPr>
          <a:xfrm flipH="false" flipV="false" rot="0">
            <a:off x="1828800" y="3063390"/>
            <a:ext cx="7007625" cy="7096674"/>
          </a:xfrm>
          <a:custGeom>
            <a:avLst/>
            <a:gdLst/>
            <a:ahLst/>
            <a:cxnLst/>
            <a:rect r="r" b="b" t="t" l="l"/>
            <a:pathLst>
              <a:path h="7096674" w="7007625">
                <a:moveTo>
                  <a:pt x="0" y="0"/>
                </a:moveTo>
                <a:lnTo>
                  <a:pt x="7007625" y="0"/>
                </a:lnTo>
                <a:lnTo>
                  <a:pt x="7007625" y="7096674"/>
                </a:lnTo>
                <a:lnTo>
                  <a:pt x="0" y="7096674"/>
                </a:lnTo>
                <a:lnTo>
                  <a:pt x="0" y="0"/>
                </a:lnTo>
                <a:close/>
              </a:path>
            </a:pathLst>
          </a:custGeom>
          <a:blipFill>
            <a:blip r:embed="rId7"/>
            <a:stretch>
              <a:fillRect l="0" t="-17089" r="0" b="-22726"/>
            </a:stretch>
          </a:blipFill>
        </p:spPr>
      </p:sp>
      <p:sp>
        <p:nvSpPr>
          <p:cNvPr name="TextBox 14" id="14"/>
          <p:cNvSpPr txBox="true"/>
          <p:nvPr/>
        </p:nvSpPr>
        <p:spPr>
          <a:xfrm rot="0">
            <a:off x="9144000" y="2042674"/>
            <a:ext cx="4794492" cy="937683"/>
          </a:xfrm>
          <a:prstGeom prst="rect">
            <a:avLst/>
          </a:prstGeom>
        </p:spPr>
        <p:txBody>
          <a:bodyPr anchor="t" rtlCol="false" tIns="0" lIns="0" bIns="0" rIns="0">
            <a:spAutoFit/>
          </a:bodyPr>
          <a:lstStyle/>
          <a:p>
            <a:pPr algn="l">
              <a:lnSpc>
                <a:spcPts val="3365"/>
              </a:lnSpc>
            </a:pPr>
            <a:r>
              <a:rPr lang="en-US" sz="3434" spc="-171" b="true">
                <a:solidFill>
                  <a:srgbClr val="000000"/>
                </a:solidFill>
                <a:latin typeface="Codec Pro Bold"/>
                <a:ea typeface="Codec Pro Bold"/>
                <a:cs typeface="Codec Pro Bold"/>
                <a:sym typeface="Codec Pro Bold"/>
              </a:rPr>
              <a:t>Accessibility:Road Connectivity </a:t>
            </a:r>
          </a:p>
        </p:txBody>
      </p:sp>
      <p:sp>
        <p:nvSpPr>
          <p:cNvPr name="Freeform 15" id="15"/>
          <p:cNvSpPr/>
          <p:nvPr/>
        </p:nvSpPr>
        <p:spPr>
          <a:xfrm flipH="false" flipV="false" rot="578093">
            <a:off x="7272621" y="-7077986"/>
            <a:ext cx="13331742" cy="9089824"/>
          </a:xfrm>
          <a:custGeom>
            <a:avLst/>
            <a:gdLst/>
            <a:ahLst/>
            <a:cxnLst/>
            <a:rect r="r" b="b" t="t" l="l"/>
            <a:pathLst>
              <a:path h="9089824" w="13331742">
                <a:moveTo>
                  <a:pt x="0" y="0"/>
                </a:moveTo>
                <a:lnTo>
                  <a:pt x="13331742" y="0"/>
                </a:lnTo>
                <a:lnTo>
                  <a:pt x="13331742" y="9089824"/>
                </a:lnTo>
                <a:lnTo>
                  <a:pt x="0" y="90898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0375" y="-171450"/>
            <a:ext cx="7219742" cy="5466148"/>
            <a:chOff x="0" y="0"/>
            <a:chExt cx="1118527" cy="846849"/>
          </a:xfrm>
        </p:grpSpPr>
        <p:sp>
          <p:nvSpPr>
            <p:cNvPr name="Freeform 3" id="3"/>
            <p:cNvSpPr/>
            <p:nvPr/>
          </p:nvSpPr>
          <p:spPr>
            <a:xfrm flipH="false" flipV="false" rot="0">
              <a:off x="0" y="0"/>
              <a:ext cx="1118527" cy="846849"/>
            </a:xfrm>
            <a:custGeom>
              <a:avLst/>
              <a:gdLst/>
              <a:ahLst/>
              <a:cxnLst/>
              <a:rect r="r" b="b" t="t" l="l"/>
              <a:pathLst>
                <a:path h="846849" w="1118527">
                  <a:moveTo>
                    <a:pt x="31097" y="0"/>
                  </a:moveTo>
                  <a:lnTo>
                    <a:pt x="1087429" y="0"/>
                  </a:lnTo>
                  <a:cubicBezTo>
                    <a:pt x="1104604" y="0"/>
                    <a:pt x="1118527" y="13923"/>
                    <a:pt x="1118527" y="31097"/>
                  </a:cubicBezTo>
                  <a:lnTo>
                    <a:pt x="1118527" y="815752"/>
                  </a:lnTo>
                  <a:cubicBezTo>
                    <a:pt x="1118527" y="832927"/>
                    <a:pt x="1104604" y="846849"/>
                    <a:pt x="1087429" y="846849"/>
                  </a:cubicBezTo>
                  <a:lnTo>
                    <a:pt x="31097" y="846849"/>
                  </a:lnTo>
                  <a:cubicBezTo>
                    <a:pt x="13923" y="846849"/>
                    <a:pt x="0" y="832927"/>
                    <a:pt x="0" y="815752"/>
                  </a:cubicBezTo>
                  <a:lnTo>
                    <a:pt x="0" y="31097"/>
                  </a:lnTo>
                  <a:cubicBezTo>
                    <a:pt x="0" y="13923"/>
                    <a:pt x="13923" y="0"/>
                    <a:pt x="31097" y="0"/>
                  </a:cubicBezTo>
                  <a:close/>
                </a:path>
              </a:pathLst>
            </a:custGeom>
            <a:blipFill>
              <a:blip r:embed="rId2"/>
              <a:stretch>
                <a:fillRect l="0" t="-49309" r="0" b="-49309"/>
              </a:stretch>
            </a:blipFill>
          </p:spPr>
        </p:sp>
      </p:grpSp>
      <p:grpSp>
        <p:nvGrpSpPr>
          <p:cNvPr name="Group 4" id="4"/>
          <p:cNvGrpSpPr/>
          <p:nvPr/>
        </p:nvGrpSpPr>
        <p:grpSpPr>
          <a:xfrm rot="0">
            <a:off x="1028700" y="6635434"/>
            <a:ext cx="7441416" cy="3877391"/>
            <a:chOff x="0" y="0"/>
            <a:chExt cx="978650" cy="509931"/>
          </a:xfrm>
        </p:grpSpPr>
        <p:sp>
          <p:nvSpPr>
            <p:cNvPr name="Freeform 5" id="5"/>
            <p:cNvSpPr/>
            <p:nvPr/>
          </p:nvSpPr>
          <p:spPr>
            <a:xfrm flipH="false" flipV="false" rot="0">
              <a:off x="0" y="0"/>
              <a:ext cx="978650" cy="509931"/>
            </a:xfrm>
            <a:custGeom>
              <a:avLst/>
              <a:gdLst/>
              <a:ahLst/>
              <a:cxnLst/>
              <a:rect r="r" b="b" t="t" l="l"/>
              <a:pathLst>
                <a:path h="509931" w="978650">
                  <a:moveTo>
                    <a:pt x="30171" y="0"/>
                  </a:moveTo>
                  <a:lnTo>
                    <a:pt x="948479" y="0"/>
                  </a:lnTo>
                  <a:cubicBezTo>
                    <a:pt x="965142" y="0"/>
                    <a:pt x="978650" y="13508"/>
                    <a:pt x="978650" y="30171"/>
                  </a:cubicBezTo>
                  <a:lnTo>
                    <a:pt x="978650" y="479760"/>
                  </a:lnTo>
                  <a:cubicBezTo>
                    <a:pt x="978650" y="496423"/>
                    <a:pt x="965142" y="509931"/>
                    <a:pt x="948479" y="509931"/>
                  </a:cubicBezTo>
                  <a:lnTo>
                    <a:pt x="30171" y="509931"/>
                  </a:lnTo>
                  <a:cubicBezTo>
                    <a:pt x="13508" y="509931"/>
                    <a:pt x="0" y="496423"/>
                    <a:pt x="0" y="479760"/>
                  </a:cubicBezTo>
                  <a:lnTo>
                    <a:pt x="0" y="30171"/>
                  </a:lnTo>
                  <a:cubicBezTo>
                    <a:pt x="0" y="13508"/>
                    <a:pt x="13508" y="0"/>
                    <a:pt x="30171" y="0"/>
                  </a:cubicBezTo>
                  <a:close/>
                </a:path>
              </a:pathLst>
            </a:custGeom>
            <a:blipFill>
              <a:blip r:embed="rId3"/>
              <a:stretch>
                <a:fillRect l="0" t="-121355" r="0" b="-121355"/>
              </a:stretch>
            </a:blipFill>
          </p:spPr>
        </p:sp>
      </p:grpSp>
      <p:sp>
        <p:nvSpPr>
          <p:cNvPr name="TextBox 6" id="6"/>
          <p:cNvSpPr txBox="true"/>
          <p:nvPr/>
        </p:nvSpPr>
        <p:spPr>
          <a:xfrm rot="0">
            <a:off x="9172238" y="805976"/>
            <a:ext cx="6974575" cy="3797046"/>
          </a:xfrm>
          <a:prstGeom prst="rect">
            <a:avLst/>
          </a:prstGeom>
        </p:spPr>
        <p:txBody>
          <a:bodyPr anchor="t" rtlCol="false" tIns="0" lIns="0" bIns="0" rIns="0">
            <a:spAutoFit/>
          </a:bodyPr>
          <a:lstStyle/>
          <a:p>
            <a:pPr algn="just">
              <a:lnSpc>
                <a:spcPts val="2772"/>
              </a:lnSpc>
            </a:pPr>
            <a:r>
              <a:rPr lang="en-US" sz="2100">
                <a:solidFill>
                  <a:srgbClr val="000000"/>
                </a:solidFill>
                <a:latin typeface="Codec Pro"/>
                <a:ea typeface="Codec Pro"/>
                <a:cs typeface="Codec Pro"/>
                <a:sym typeface="Codec Pro"/>
              </a:rPr>
              <a:t>The Kernel Density Analysis was carried out to identify the major tourist hotspots in Thiruvananthapuram District. The results show a high concentration of tourist points around Padmanabhaswamy Temple, Napier Museum, Kovalam, and Varkala, indicating these as the most active tourist hubs with better supporting facilities and services. Moderate hotspots were observed in regions like Veli and Shankumugham, while low-density areas such as Neyyar Dam and Nipunmudi Hills indicate limited tourist activity and infrastructure.</a:t>
            </a:r>
          </a:p>
        </p:txBody>
      </p:sp>
      <p:sp>
        <p:nvSpPr>
          <p:cNvPr name="TextBox 7" id="7"/>
          <p:cNvSpPr txBox="true"/>
          <p:nvPr/>
        </p:nvSpPr>
        <p:spPr>
          <a:xfrm rot="0">
            <a:off x="9172238" y="5804154"/>
            <a:ext cx="6974575" cy="3454146"/>
          </a:xfrm>
          <a:prstGeom prst="rect">
            <a:avLst/>
          </a:prstGeom>
        </p:spPr>
        <p:txBody>
          <a:bodyPr anchor="t" rtlCol="false" tIns="0" lIns="0" bIns="0" rIns="0">
            <a:spAutoFit/>
          </a:bodyPr>
          <a:lstStyle/>
          <a:p>
            <a:pPr algn="just">
              <a:lnSpc>
                <a:spcPts val="2772"/>
              </a:lnSpc>
            </a:pPr>
            <a:r>
              <a:rPr lang="en-US" sz="2100">
                <a:solidFill>
                  <a:srgbClr val="000000"/>
                </a:solidFill>
                <a:latin typeface="Codec Pro"/>
                <a:ea typeface="Codec Pro"/>
                <a:cs typeface="Codec Pro"/>
                <a:sym typeface="Codec Pro"/>
              </a:rPr>
              <a:t>The Multi-buffer Analysis was performed from the primary road network with buffer distances of 0–2 km, 2–3 km, and greater than 3 km to assess accessibility. Areas within 0–2 km show high accessibility with easy approach to major tourist sites, 2–3 km zones represent moderate accessibility, and regions beyond 3 km are categorized as low accessibility zones due to their remoteness and weaker transport connections. Together, these analyses reveal the spatial distribution of tourism activity and accessibility across the district.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08024" r="0" b="-108024"/>
            </a:stretch>
          </a:blipFill>
        </p:spPr>
      </p:sp>
      <p:grpSp>
        <p:nvGrpSpPr>
          <p:cNvPr name="Group 3" id="3"/>
          <p:cNvGrpSpPr/>
          <p:nvPr/>
        </p:nvGrpSpPr>
        <p:grpSpPr>
          <a:xfrm rot="0">
            <a:off x="7898503" y="2779686"/>
            <a:ext cx="9309486" cy="4648129"/>
            <a:chOff x="0" y="0"/>
            <a:chExt cx="2451881" cy="1224198"/>
          </a:xfrm>
        </p:grpSpPr>
        <p:sp>
          <p:nvSpPr>
            <p:cNvPr name="Freeform 4" id="4"/>
            <p:cNvSpPr/>
            <p:nvPr/>
          </p:nvSpPr>
          <p:spPr>
            <a:xfrm flipH="false" flipV="false" rot="0">
              <a:off x="0" y="0"/>
              <a:ext cx="2451881" cy="1224198"/>
            </a:xfrm>
            <a:custGeom>
              <a:avLst/>
              <a:gdLst/>
              <a:ahLst/>
              <a:cxnLst/>
              <a:rect r="r" b="b" t="t" l="l"/>
              <a:pathLst>
                <a:path h="1224198" w="2451881">
                  <a:moveTo>
                    <a:pt x="25780" y="0"/>
                  </a:moveTo>
                  <a:lnTo>
                    <a:pt x="2426101" y="0"/>
                  </a:lnTo>
                  <a:cubicBezTo>
                    <a:pt x="2440339" y="0"/>
                    <a:pt x="2451881" y="11542"/>
                    <a:pt x="2451881" y="25780"/>
                  </a:cubicBezTo>
                  <a:lnTo>
                    <a:pt x="2451881" y="1198418"/>
                  </a:lnTo>
                  <a:cubicBezTo>
                    <a:pt x="2451881" y="1205256"/>
                    <a:pt x="2449165" y="1211813"/>
                    <a:pt x="2444330" y="1216648"/>
                  </a:cubicBezTo>
                  <a:cubicBezTo>
                    <a:pt x="2439495" y="1221482"/>
                    <a:pt x="2432938" y="1224198"/>
                    <a:pt x="2426101" y="1224198"/>
                  </a:cubicBezTo>
                  <a:lnTo>
                    <a:pt x="25780" y="1224198"/>
                  </a:lnTo>
                  <a:cubicBezTo>
                    <a:pt x="11542" y="1224198"/>
                    <a:pt x="0" y="1212656"/>
                    <a:pt x="0" y="1198418"/>
                  </a:cubicBezTo>
                  <a:lnTo>
                    <a:pt x="0" y="25780"/>
                  </a:lnTo>
                  <a:cubicBezTo>
                    <a:pt x="0" y="11542"/>
                    <a:pt x="11542" y="0"/>
                    <a:pt x="25780" y="0"/>
                  </a:cubicBezTo>
                  <a:close/>
                </a:path>
              </a:pathLst>
            </a:custGeom>
            <a:solidFill>
              <a:srgbClr val="000000">
                <a:alpha val="0"/>
              </a:srgbClr>
            </a:solidFill>
            <a:ln w="28575" cap="rnd">
              <a:solidFill>
                <a:srgbClr val="FFFFFF"/>
              </a:solidFill>
              <a:prstDash val="solid"/>
              <a:round/>
            </a:ln>
          </p:spPr>
        </p:sp>
        <p:sp>
          <p:nvSpPr>
            <p:cNvPr name="TextBox 5" id="5"/>
            <p:cNvSpPr txBox="true"/>
            <p:nvPr/>
          </p:nvSpPr>
          <p:spPr>
            <a:xfrm>
              <a:off x="0" y="-85725"/>
              <a:ext cx="2451881" cy="1309923"/>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028700" y="381375"/>
            <a:ext cx="6056492" cy="3925809"/>
            <a:chOff x="0" y="0"/>
            <a:chExt cx="993062" cy="643701"/>
          </a:xfrm>
        </p:grpSpPr>
        <p:sp>
          <p:nvSpPr>
            <p:cNvPr name="Freeform 7" id="7"/>
            <p:cNvSpPr/>
            <p:nvPr/>
          </p:nvSpPr>
          <p:spPr>
            <a:xfrm flipH="false" flipV="false" rot="0">
              <a:off x="0" y="0"/>
              <a:ext cx="993062" cy="643701"/>
            </a:xfrm>
            <a:custGeom>
              <a:avLst/>
              <a:gdLst/>
              <a:ahLst/>
              <a:cxnLst/>
              <a:rect r="r" b="b" t="t" l="l"/>
              <a:pathLst>
                <a:path h="643701" w="993062">
                  <a:moveTo>
                    <a:pt x="37070" y="0"/>
                  </a:moveTo>
                  <a:lnTo>
                    <a:pt x="955992" y="0"/>
                  </a:lnTo>
                  <a:cubicBezTo>
                    <a:pt x="976465" y="0"/>
                    <a:pt x="993062" y="16597"/>
                    <a:pt x="993062" y="37070"/>
                  </a:cubicBezTo>
                  <a:lnTo>
                    <a:pt x="993062" y="606631"/>
                  </a:lnTo>
                  <a:cubicBezTo>
                    <a:pt x="993062" y="616463"/>
                    <a:pt x="989157" y="625892"/>
                    <a:pt x="982205" y="632844"/>
                  </a:cubicBezTo>
                  <a:cubicBezTo>
                    <a:pt x="975253" y="639796"/>
                    <a:pt x="965824" y="643701"/>
                    <a:pt x="955992" y="643701"/>
                  </a:cubicBezTo>
                  <a:lnTo>
                    <a:pt x="37070" y="643701"/>
                  </a:lnTo>
                  <a:cubicBezTo>
                    <a:pt x="27239" y="643701"/>
                    <a:pt x="17810" y="639796"/>
                    <a:pt x="10858" y="632844"/>
                  </a:cubicBezTo>
                  <a:cubicBezTo>
                    <a:pt x="3906" y="625892"/>
                    <a:pt x="0" y="616463"/>
                    <a:pt x="0" y="606631"/>
                  </a:cubicBezTo>
                  <a:lnTo>
                    <a:pt x="0" y="37070"/>
                  </a:lnTo>
                  <a:cubicBezTo>
                    <a:pt x="0" y="16597"/>
                    <a:pt x="16597" y="0"/>
                    <a:pt x="37070" y="0"/>
                  </a:cubicBezTo>
                  <a:close/>
                </a:path>
              </a:pathLst>
            </a:custGeom>
            <a:blipFill>
              <a:blip r:embed="rId3"/>
              <a:stretch>
                <a:fillRect l="-1039" t="0" r="-1039" b="0"/>
              </a:stretch>
            </a:blipFill>
          </p:spPr>
        </p:sp>
      </p:grpSp>
      <p:grpSp>
        <p:nvGrpSpPr>
          <p:cNvPr name="Group 8" id="8"/>
          <p:cNvGrpSpPr/>
          <p:nvPr/>
        </p:nvGrpSpPr>
        <p:grpSpPr>
          <a:xfrm rot="0">
            <a:off x="1028700" y="5146224"/>
            <a:ext cx="6056492" cy="4563182"/>
            <a:chOff x="0" y="0"/>
            <a:chExt cx="993062" cy="748209"/>
          </a:xfrm>
        </p:grpSpPr>
        <p:sp>
          <p:nvSpPr>
            <p:cNvPr name="Freeform 9" id="9"/>
            <p:cNvSpPr/>
            <p:nvPr/>
          </p:nvSpPr>
          <p:spPr>
            <a:xfrm flipH="false" flipV="false" rot="0">
              <a:off x="0" y="0"/>
              <a:ext cx="993062" cy="748209"/>
            </a:xfrm>
            <a:custGeom>
              <a:avLst/>
              <a:gdLst/>
              <a:ahLst/>
              <a:cxnLst/>
              <a:rect r="r" b="b" t="t" l="l"/>
              <a:pathLst>
                <a:path h="748209" w="993062">
                  <a:moveTo>
                    <a:pt x="37070" y="0"/>
                  </a:moveTo>
                  <a:lnTo>
                    <a:pt x="955992" y="0"/>
                  </a:lnTo>
                  <a:cubicBezTo>
                    <a:pt x="976465" y="0"/>
                    <a:pt x="993062" y="16597"/>
                    <a:pt x="993062" y="37070"/>
                  </a:cubicBezTo>
                  <a:lnTo>
                    <a:pt x="993062" y="711139"/>
                  </a:lnTo>
                  <a:cubicBezTo>
                    <a:pt x="993062" y="720971"/>
                    <a:pt x="989157" y="730400"/>
                    <a:pt x="982205" y="737352"/>
                  </a:cubicBezTo>
                  <a:cubicBezTo>
                    <a:pt x="975253" y="744304"/>
                    <a:pt x="965824" y="748209"/>
                    <a:pt x="955992" y="748209"/>
                  </a:cubicBezTo>
                  <a:lnTo>
                    <a:pt x="37070" y="748209"/>
                  </a:lnTo>
                  <a:cubicBezTo>
                    <a:pt x="16597" y="748209"/>
                    <a:pt x="0" y="731612"/>
                    <a:pt x="0" y="711139"/>
                  </a:cubicBezTo>
                  <a:lnTo>
                    <a:pt x="0" y="37070"/>
                  </a:lnTo>
                  <a:cubicBezTo>
                    <a:pt x="0" y="16597"/>
                    <a:pt x="16597" y="0"/>
                    <a:pt x="37070" y="0"/>
                  </a:cubicBezTo>
                  <a:close/>
                </a:path>
              </a:pathLst>
            </a:custGeom>
            <a:blipFill>
              <a:blip r:embed="rId4"/>
              <a:stretch>
                <a:fillRect l="0" t="-54508" r="0" b="-54508"/>
              </a:stretch>
            </a:blipFill>
          </p:spPr>
        </p:sp>
      </p:grpSp>
      <p:sp>
        <p:nvSpPr>
          <p:cNvPr name="TextBox 10" id="10"/>
          <p:cNvSpPr txBox="true"/>
          <p:nvPr/>
        </p:nvSpPr>
        <p:spPr>
          <a:xfrm rot="0">
            <a:off x="8381145" y="3126387"/>
            <a:ext cx="8878155" cy="3810674"/>
          </a:xfrm>
          <a:prstGeom prst="rect">
            <a:avLst/>
          </a:prstGeom>
        </p:spPr>
        <p:txBody>
          <a:bodyPr anchor="t" rtlCol="false" tIns="0" lIns="0" bIns="0" rIns="0">
            <a:spAutoFit/>
          </a:bodyPr>
          <a:lstStyle/>
          <a:p>
            <a:pPr algn="just">
              <a:lnSpc>
                <a:spcPts val="1995"/>
              </a:lnSpc>
            </a:pPr>
            <a:r>
              <a:rPr lang="en-US" b="true" sz="1511">
                <a:solidFill>
                  <a:srgbClr val="FFFFFF"/>
                </a:solidFill>
                <a:latin typeface="Codec Pro Bold"/>
                <a:ea typeface="Codec Pro Bold"/>
                <a:cs typeface="Codec Pro Bold"/>
                <a:sym typeface="Codec Pro Bold"/>
              </a:rPr>
              <a:t>Spatial Disparity</a:t>
            </a:r>
          </a:p>
          <a:p>
            <a:pPr algn="just">
              <a:lnSpc>
                <a:spcPts val="1995"/>
              </a:lnSpc>
            </a:pPr>
            <a:r>
              <a:rPr lang="en-US" b="true" sz="1511">
                <a:solidFill>
                  <a:srgbClr val="FFFFFF"/>
                </a:solidFill>
                <a:latin typeface="Codec Pro Bold"/>
                <a:ea typeface="Codec Pro Bold"/>
                <a:cs typeface="Codec Pro Bold"/>
                <a:sym typeface="Codec Pro Bold"/>
              </a:rPr>
              <a:t>Tourism is concentrated in coastal and urban areas, showing uneven regional development.</a:t>
            </a:r>
          </a:p>
          <a:p>
            <a:pPr algn="just">
              <a:lnSpc>
                <a:spcPts val="1995"/>
              </a:lnSpc>
            </a:pPr>
          </a:p>
          <a:p>
            <a:pPr algn="just">
              <a:lnSpc>
                <a:spcPts val="1995"/>
              </a:lnSpc>
            </a:pPr>
            <a:r>
              <a:rPr lang="en-US" b="true" sz="1511">
                <a:solidFill>
                  <a:srgbClr val="FFFFFF"/>
                </a:solidFill>
                <a:latin typeface="Codec Pro Bold"/>
                <a:ea typeface="Codec Pro Bold"/>
                <a:cs typeface="Codec Pro Bold"/>
                <a:sym typeface="Codec Pro Bold"/>
              </a:rPr>
              <a:t>Infrastructure Gaps</a:t>
            </a:r>
          </a:p>
          <a:p>
            <a:pPr algn="just">
              <a:lnSpc>
                <a:spcPts val="1995"/>
              </a:lnSpc>
            </a:pPr>
            <a:r>
              <a:rPr lang="en-US" b="true" sz="1511">
                <a:solidFill>
                  <a:srgbClr val="FFFFFF"/>
                </a:solidFill>
                <a:latin typeface="Codec Pro Bold"/>
                <a:ea typeface="Codec Pro Bold"/>
                <a:cs typeface="Codec Pro Bold"/>
                <a:sym typeface="Codec Pro Bold"/>
              </a:rPr>
              <a:t>Remote and hilly areas have limited service availability, affecting tourist convenience.</a:t>
            </a:r>
          </a:p>
          <a:p>
            <a:pPr algn="just">
              <a:lnSpc>
                <a:spcPts val="1995"/>
              </a:lnSpc>
            </a:pPr>
          </a:p>
          <a:p>
            <a:pPr algn="just">
              <a:lnSpc>
                <a:spcPts val="1995"/>
              </a:lnSpc>
            </a:pPr>
            <a:r>
              <a:rPr lang="en-US" b="true" sz="1511">
                <a:solidFill>
                  <a:srgbClr val="FFFFFF"/>
                </a:solidFill>
                <a:latin typeface="Codec Pro Bold"/>
                <a:ea typeface="Codec Pro Bold"/>
                <a:cs typeface="Codec Pro Bold"/>
                <a:sym typeface="Codec Pro Bold"/>
              </a:rPr>
              <a:t>Accessibility Matters</a:t>
            </a:r>
          </a:p>
          <a:p>
            <a:pPr algn="just">
              <a:lnSpc>
                <a:spcPts val="1995"/>
              </a:lnSpc>
            </a:pPr>
            <a:r>
              <a:rPr lang="en-US" b="true" sz="1511">
                <a:solidFill>
                  <a:srgbClr val="FFFFFF"/>
                </a:solidFill>
                <a:latin typeface="Codec Pro Bold"/>
                <a:ea typeface="Codec Pro Bold"/>
                <a:cs typeface="Codec Pro Bold"/>
                <a:sym typeface="Codec Pro Bold"/>
              </a:rPr>
              <a:t>Well-connected sites attract more visitors; improving road access can promote balanced growth.</a:t>
            </a:r>
          </a:p>
          <a:p>
            <a:pPr algn="just">
              <a:lnSpc>
                <a:spcPts val="1995"/>
              </a:lnSpc>
            </a:pPr>
          </a:p>
          <a:p>
            <a:pPr algn="just">
              <a:lnSpc>
                <a:spcPts val="1995"/>
              </a:lnSpc>
            </a:pPr>
            <a:r>
              <a:rPr lang="en-US" b="true" sz="1511">
                <a:solidFill>
                  <a:srgbClr val="FFFFFF"/>
                </a:solidFill>
                <a:latin typeface="Codec Pro Bold"/>
                <a:ea typeface="Codec Pro Bold"/>
                <a:cs typeface="Codec Pro Bold"/>
                <a:sym typeface="Codec Pro Bold"/>
              </a:rPr>
              <a:t>Balanced Growth Needed</a:t>
            </a:r>
          </a:p>
          <a:p>
            <a:pPr algn="just">
              <a:lnSpc>
                <a:spcPts val="1995"/>
              </a:lnSpc>
            </a:pPr>
            <a:r>
              <a:rPr lang="en-US" b="true" sz="1511">
                <a:solidFill>
                  <a:srgbClr val="FFFFFF"/>
                </a:solidFill>
                <a:latin typeface="Codec Pro Bold"/>
                <a:ea typeface="Codec Pro Bold"/>
                <a:cs typeface="Codec Pro Bold"/>
                <a:sym typeface="Codec Pro Bold"/>
              </a:rPr>
              <a:t>Expanding infrastructure to interior regions can reduce pressure on coastal hotspots.</a:t>
            </a:r>
          </a:p>
          <a:p>
            <a:pPr algn="just">
              <a:lnSpc>
                <a:spcPts val="1995"/>
              </a:lnSpc>
            </a:pPr>
          </a:p>
          <a:p>
            <a:pPr algn="just">
              <a:lnSpc>
                <a:spcPts val="1995"/>
              </a:lnSpc>
            </a:pPr>
            <a:r>
              <a:rPr lang="en-US" b="true" sz="1511">
                <a:solidFill>
                  <a:srgbClr val="FFFFFF"/>
                </a:solidFill>
                <a:latin typeface="Codec Pro Bold"/>
                <a:ea typeface="Codec Pro Bold"/>
                <a:cs typeface="Codec Pro Bold"/>
                <a:sym typeface="Codec Pro Bold"/>
              </a:rPr>
              <a:t>GIS for Planning</a:t>
            </a:r>
          </a:p>
          <a:p>
            <a:pPr algn="just">
              <a:lnSpc>
                <a:spcPts val="1995"/>
              </a:lnSpc>
            </a:pPr>
            <a:r>
              <a:rPr lang="en-US" b="true" sz="1511">
                <a:solidFill>
                  <a:srgbClr val="FFFFFF"/>
                </a:solidFill>
                <a:latin typeface="Codec Pro Bold"/>
                <a:ea typeface="Codec Pro Bold"/>
                <a:cs typeface="Codec Pro Bold"/>
                <a:sym typeface="Codec Pro Bold"/>
              </a:rPr>
              <a:t>GIS analysis helps identify gaps and guide sustainable tourism development across the district.</a:t>
            </a:r>
          </a:p>
        </p:txBody>
      </p:sp>
      <p:sp>
        <p:nvSpPr>
          <p:cNvPr name="TextBox 11" id="11"/>
          <p:cNvSpPr txBox="true"/>
          <p:nvPr/>
        </p:nvSpPr>
        <p:spPr>
          <a:xfrm rot="0">
            <a:off x="9339671" y="1201023"/>
            <a:ext cx="8150543" cy="1143257"/>
          </a:xfrm>
          <a:prstGeom prst="rect">
            <a:avLst/>
          </a:prstGeom>
        </p:spPr>
        <p:txBody>
          <a:bodyPr anchor="t" rtlCol="false" tIns="0" lIns="0" bIns="0" rIns="0">
            <a:spAutoFit/>
          </a:bodyPr>
          <a:lstStyle/>
          <a:p>
            <a:pPr algn="l">
              <a:lnSpc>
                <a:spcPts val="7693"/>
              </a:lnSpc>
            </a:pPr>
            <a:r>
              <a:rPr lang="en-US" sz="7850" spc="-392" b="true">
                <a:solidFill>
                  <a:srgbClr val="FFFFFF"/>
                </a:solidFill>
                <a:latin typeface="Codec Pro Ultra-Bold"/>
                <a:ea typeface="Codec Pro Ultra-Bold"/>
                <a:cs typeface="Codec Pro Ultra-Bold"/>
                <a:sym typeface="Codec Pro Ultra-Bold"/>
              </a:rPr>
              <a:t>Conclusion </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496029" y="8863899"/>
            <a:ext cx="1274721" cy="470601"/>
          </a:xfrm>
          <a:prstGeom prst="rect">
            <a:avLst/>
          </a:prstGeom>
        </p:spPr>
        <p:txBody>
          <a:bodyPr anchor="t" rtlCol="false" tIns="0" lIns="0" bIns="0" rIns="0">
            <a:spAutoFit/>
          </a:bodyPr>
          <a:lstStyle/>
          <a:p>
            <a:pPr algn="ctr">
              <a:lnSpc>
                <a:spcPts val="3461"/>
              </a:lnSpc>
            </a:pPr>
            <a:r>
              <a:rPr lang="en-US" sz="2472" b="true">
                <a:solidFill>
                  <a:srgbClr val="FFFFFF"/>
                </a:solidFill>
                <a:latin typeface="Codec Pro Ultra-Bold"/>
                <a:ea typeface="Codec Pro Ultra-Bold"/>
                <a:cs typeface="Codec Pro Ultra-Bold"/>
                <a:sym typeface="Codec Pro Ultra-Bold"/>
              </a:rPr>
              <a:t>-</a:t>
            </a:r>
          </a:p>
        </p:txBody>
      </p:sp>
      <p:sp>
        <p:nvSpPr>
          <p:cNvPr name="TextBox 3" id="3"/>
          <p:cNvSpPr txBox="true"/>
          <p:nvPr/>
        </p:nvSpPr>
        <p:spPr>
          <a:xfrm rot="0">
            <a:off x="2885456" y="2228510"/>
            <a:ext cx="12495867" cy="3333788"/>
          </a:xfrm>
          <a:prstGeom prst="rect">
            <a:avLst/>
          </a:prstGeom>
        </p:spPr>
        <p:txBody>
          <a:bodyPr anchor="t" rtlCol="false" tIns="0" lIns="0" bIns="0" rIns="0">
            <a:spAutoFit/>
          </a:bodyPr>
          <a:lstStyle/>
          <a:p>
            <a:pPr algn="ctr">
              <a:lnSpc>
                <a:spcPts val="25197"/>
              </a:lnSpc>
              <a:spcBef>
                <a:spcPct val="0"/>
              </a:spcBef>
            </a:pPr>
            <a:r>
              <a:rPr lang="en-US" b="true" sz="17998" spc="-899">
                <a:solidFill>
                  <a:srgbClr val="FFFFFF"/>
                </a:solidFill>
                <a:latin typeface="Codec Pro Ultra-Bold"/>
                <a:ea typeface="Codec Pro Ultra-Bold"/>
                <a:cs typeface="Codec Pro Ultra-Bold"/>
                <a:sym typeface="Codec Pro Ultra-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DAG3NSF8hVU</dc:identifier>
  <dcterms:modified xsi:type="dcterms:W3CDTF">2011-08-01T06:04:30Z</dcterms:modified>
  <cp:revision>1</cp:revision>
  <dc:title>Black Minimal Nature Presentation</dc:title>
</cp:coreProperties>
</file>